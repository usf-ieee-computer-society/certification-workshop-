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32"/>
  </p:notesMasterIdLst>
  <p:sldIdLst>
    <p:sldId id="297" r:id="rId6"/>
    <p:sldId id="299" r:id="rId7"/>
    <p:sldId id="298" r:id="rId8"/>
    <p:sldId id="300" r:id="rId9"/>
    <p:sldId id="301" r:id="rId10"/>
    <p:sldId id="257" r:id="rId11"/>
    <p:sldId id="260" r:id="rId12"/>
    <p:sldId id="295" r:id="rId13"/>
    <p:sldId id="303" r:id="rId14"/>
    <p:sldId id="302" r:id="rId15"/>
    <p:sldId id="304" r:id="rId16"/>
    <p:sldId id="305" r:id="rId17"/>
    <p:sldId id="262" r:id="rId18"/>
    <p:sldId id="309" r:id="rId19"/>
    <p:sldId id="313" r:id="rId20"/>
    <p:sldId id="282" r:id="rId21"/>
    <p:sldId id="311" r:id="rId22"/>
    <p:sldId id="279" r:id="rId23"/>
    <p:sldId id="314" r:id="rId24"/>
    <p:sldId id="278" r:id="rId25"/>
    <p:sldId id="310" r:id="rId26"/>
    <p:sldId id="280" r:id="rId27"/>
    <p:sldId id="263" r:id="rId28"/>
    <p:sldId id="312" r:id="rId29"/>
    <p:sldId id="292" r:id="rId30"/>
    <p:sldId id="31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7D11DC-24CD-4EA6-8688-73381276A825}" v="47" dt="2025-11-13T23:06:14.060"/>
    <p1510:client id="{8C535411-BE6D-4951-AA5B-FF29C6220FFC}" v="158" dt="2025-11-13T22:58:26.6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notesMaster" Target="notesMasters/notesMaster1.xml"/><Relationship Id="rId37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5:39:25.587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0 401 4915,'7'-1'156,"0"0"0,0-1 1,-1 1-1,13-6 0,2 0 39,9-2 312,37-18 0,-37 14-144,35-10-1,-49 18-152,0-1 0,0-1 1,-1 0-1,0-1 0,21-14 0,-30 18-113,1 1-1,-1 0 1,1 1-1,12-4 0,23-10 386,-41 16-470,35-21 656,64-26 0,-60 34-312,-27 9-160,1 0 0,-1-1 0,0-1 0,25-13 1,-27 12-65,1 2 0,0 0 0,0 0 0,0 1 0,1 0 0,-1 1 0,1 1 0,16-2 0,-9 2 97,1-2 1,21-7-1,-8 2 159,1 1 0,0 2-1,36-3 1,-6 2 118,6 1 511,124 5 0,-84 3-137,-72-2-531,69 2 435,-94 0-617,-1 0-1,1 1 1,-1 0-1,1 1 1,23 10 0,13 8 373,-26-12-108,39 22-1,-47-24-428,0 0 0,1-2 0,0 0 0,28 7-1,28 8-2,56 38 0,-99-45 0,30 21 0,-39-22 0,1-1 0,-1 0 0,38 12 0,-49-19 0,0-1 0,0 1 0,0 1 0,9 6 0,16 9 0,-35-21 0,9 4 0,-1 0 0,0 1 0,0 0 0,0 0 0,-1 1 0,1 0 0,-1 0 0,11 13 0,-11-10 0,0 1 0,0 0 0,-1 0 0,0 0 0,-1 1 0,0 0 0,-1 0 0,0 1 0,-1-1 0,0 1 0,2 20 0,5 17 0,-6-31 0,-1-1 0,2 19 0,6 42 0,-6-57 0,-2 0 0,2 23 0,-5-31 0,1 0 0,0 0 0,1 0 0,0 0 0,1 0 0,1 0 0,0 0 0,9 17 0,-9-19 0,0-1 0,-1 1 0,0 0 0,0 0 0,-1 1 0,0 19 0,-4 75 0,0-43 0,2-1 0,1-11 0,-2 0 0,-14 91 0,3-45 0,0 3 0,-1-33 0,6-29 0,-18 62 0,20-87 0,0 0 0,-1-1 0,0 0 0,-1 0 0,0 0 0,-1-1 0,0 0 0,-16 16 0,-130 114 0,138-128 0,2 1 0,-1 1 0,2 0 0,0 1 0,1 0 0,-15 28 0,2-8 0,-11 22 0,-15 28 0,47-82 0,1-5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5:39:36.907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1 4915,'2'30'714,"10"59"0,-1-20-147,-7-47-296,1-1 0,0 1 1,15 33-1,-12-37-86,-1 1-1,-1 0 1,-1-1 0,-1 2 0,3 26 0,-4-16 234,1 0 1,17 57-1,-4-21 200,-9-28-19,2 0 1,28 65 0,-34-91-476,0 0-1,-1 1 1,-1-1 0,0 1 0,0 0 0,-1 0-1,-1-1 1,-1 17 0,0-12 47,1-1 0,1 0 0,1 1-1,4 21 1,8 20 729,11 80 0,-25-132-835,1 0 1,0 0-1,0 0 0,1 0 0,0 0 0,0 0 0,0-1 0,1 1 0,-1-1 0,6 8 0,-6-11-34,0 0 1,0 0-1,0 0 1,0 0-1,1-1 0,-1 1 1,0 0-1,1-1 1,0 0-1,-1 0 0,1 1 1,-1-1-1,1-1 0,0 1 1,0 0-1,0-1 1,-1 0-1,1 1 0,0-1 1,0 0-1,0 0 1,0-1-1,5 0 0,165-41 1423,-20 28-119,-113 9-830,59-1 0,-20 3 116,1-8-162,-50 6-470,48-2 1,627 8 9,-692-2 0,-1-1 0,1 1 0,17-6 0,1-1 0,-14 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5:39:51.392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490 1343 4915,'-2'-23'0,"-2"0"0,0 0 0,-2 1 0,0 0 0,-2 0 0,-17-36 0,-26-42 0,32 64 0,1 0 0,-23-67 0,9 20 55,24 66-37,0-2 1,1 1-1,2-1 1,-1 0-1,-2-22 1,6 26-4,-1 1 1,0 0 0,-1 1-1,-7-16 1,6 15 4,0 0 0,0 0 0,-3-24 0,6 24-23,-2 0 0,1 1 0,-1 0 1,-1 0-1,-1 0 0,0 0 0,0 1 1,-10-14-1,11 16 0,0 0 0,1-1 1,-5-18-1,-9-22-8,8 27 4,-11-40 0,-3-10-7,-8 1 1,26 57 12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5:39:57.628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0 4915,'0'0'0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5:42:02.054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2592 569 4915,'-18'-16'0,"-33"-21"0,5 3 0,10 5 0,-111-94 0,115 96 219,-1 1 1,-2 2-1,-39-21 0,52 32-172,-46-22 747,-1 2-1,-78-26 0,77 39-257,50 16-291,1-2-1,-27-10 1,34 11-125,1 1 0,-1 1 0,0 0 0,0 1 0,0 0 0,-16-1 0,-78 5 631,43 0-287,38-2-284,-6 0 160,-1 0 1,1 3-1,-48 8 1,34 0 40,2-2 400,-73 27 0,48-8 160,1 3 0,-107 68 1,125-66-220,1 3 1,-52 51 0,40-30-74,-66 66 1071,112-107-1642,1 0 0,0 1 0,1 1 0,1 0 1,1 1-1,-9 21 0,-54 110-78,59-96 0,13-43 0,-1 0 0,-1-1 0,-7 20 0,0-5 0,2 0 0,1 0 0,-7 45 0,9-42 0,-1 1 0,-18 49 0,18-61 0,0-1 0,2 1 0,0 0 0,1 0 0,-1 28 0,5 91 0,1-54 0,-2-28 0,2 77 0,-1-111 0,2-1 0,0 1 0,2 0 0,9 27 0,8 30 0,-15-51 0,13 35 0,-16-47 0,0-1 0,5 29 0,-7-29 0,1 0 0,0 0 0,0-1 0,6 13 0,5 7 0,-3 1 0,10 41 0,-11-35 0,-4-19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5:42:12.183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69 178 4915,'49'43'844,"1"-2"0,1-3 0,92 52 0,-100-64-381,47 40 600,-7-11-218,-50-31-415,0-2 0,2-1-1,1-2 1,66 26 0,-79-36-174,0 1 0,-1 1 0,0 1 0,26 19 0,17 9 372,-54-33-444,0 1 1,-1 1-1,0 0 1,16 17-1,23 20 497,-36-35-479,-1 1-1,0 1 0,13 16 0,-14-14 92,2-1 0,22 20 1,-16-16-26,-15-14-186,0 0 1,0 0 0,1 0 0,-1 0 0,1-1 0,0 0-1,6 3 1,-9-5-75,0-1 0,0 1-1,-1-1 1,1 0 0,0 0 0,-1 0-1,1 0 1,0 0 0,0 0-1,-1-1 1,1 1 0,0 0 0,-1-1-1,1 1 1,0-1 0,-1 0-1,1 0 1,-1 1 0,1-1 0,-1 0-1,1 0 1,-1 0 0,0-1 0,1 1-1,-1 0 1,0 0 0,0-1-1,0 1 1,1-3 0,9-13-174,0-1 1,-2 0 0,0-1-1,-1 0 1,8-28 0,17-40-410,-10 43-119,56-76-1,-34 56 234,-3 6-25,57-60-1,-70 86 227,12-10-102,1 2 1,85-62-1,-101 86 563,-26 16-197,0 0 0,1 0 1,-1 0-1,0 0 1,0 0-1,0-1 1,0 1-1,1 0 0,-1 0 1,0 0-1,0 0 1,0 0-1,1 0 0,-1 0 1,0 0-1,0 0 1,0 0-1,0 0 1,1 0-1,-1 0 0,0 1 1,0-1-1,0 0 1,0 0-1,1 0 1,-1 0-1,0 0 0,0 0 1,0 0-1,0 0 1,1 0-1,-1 1 1,0-1-1,0 0 0,0 0 1,0 0-1,0 0 1,0 0-1,0 1 1,1-1-1,-7 16 133,-10 9 50,-1 0 1,-1-1-1,-27 28 0,6-8 104,27-29-181,0-2 3,1 0 1,0 1-1,1 1 0,0 0 1,1 0-1,-9 24 1,12-25 5,0-1 0,-1 0 1,-16 22-1,-13 25 267,-3 18 321,-66 96 0,90-153-457,-33 35-1,10-13 86,-52 51 344,88-91-655,-1-1-1,0 1 1,0 0 0,0-1-1,0 1 1,0-1 0,0 0-1,-1 0 1,1 0 0,-1-1 0,1 1-1,-1-1 1,0 0 0,0 0-1,1 0 1,-1 0 0,0-1-1,0 1 1,0-1 0,0 0 0,0-1-1,-5 0 1,4 1-33,1-1 0,-1-1 0,0 1 0,1-1 0,-1 0 0,0 0 0,1 0-1,0-1 1,0 1 0,0-1 0,0 0 0,0 0 0,0-1 0,1 1 0,-1-1 0,1 1 0,-3-6 0,-2-4-39,0 0 0,-1 1 0,0 0 0,-1 1 0,0 0 0,-1 0 0,-21-15 0,15 14 128,-27-26 1,16 13-5,-18-22-13,40 40-54,0 0 1,0 0-1,-1 0 0,0 1 1,0 0-1,0 0 0,-1 1 1,0 0-1,0 0 0,-15-6 1,-226-93 427,71 29-91,144 60-306,10 5 7,1-1 0,0-1 1,0-1-1,1 0 0,1-2 0,-21-19 0,-64-48 196,87 64-175,-9-8-246,-28-36 0,50 53 83,1 0 0,0 0 0,0-1 0,1 1 0,0-1 0,1 0 0,-5-19-1,8 29 98,0-1-1,0 1 0,0 0 0,0 0 0,0 0 0,0 0 0,0-1 0,0 1 0,0 0 0,0 0 0,0 0 0,0 0 0,0-1 0,0 1 0,0 0 0,0 0 0,0 0 0,0 0 0,0-1 0,0 1 0,0 0 0,0 0 0,0 0 0,1 0 0,-1 0 0,0-1 0,0 1 0,0 0 0,0 0 0,0 0 0,0 0 0,0 0 1,1 0-1,-1 0 0,0-1 0,0 1 0,0 0 0,0 0 0,1 0 0,-1 0 0,0 0 0,0 0 0,0 0 0,0 0 0,1 0 0,-1 0 0,0 0 0,0 0 0,0 0 0,0 0 0,1 0 0,11 6 31,9 12 4,7 10 6,-7-6 15,1 0 0,28 20 0,-1 0 31,-35-29-50,0-1 0,17 11 0,-25-18-20,1 0 0,-1 1 0,0 0 1,10 13-1,-11-13-5,0 0 1,0-1 0,0 1 0,1-1 0,0 0 0,9 6 0,5-1 12,-5-2 5,-1 0 0,0 1 1,19 16-1,64 51 156,31 34 48,-26-23-49,-90-77-166,14 14 36,2 0 0,31 19 0,-46-34-20,1 2 1,14 13 0,-17-13 2,1 0 0,25 15 0,138 60 224,-167-83-249,1 1 0,-1-1-1,1 0 1,0-1 0,-1 1-1,1-2 1,0 0 0,16 1-1,4-2 40,40-5-1,-64 5-76,0-2 0,0 1 1,0 0-1,0-1 1,-1 0-1,1 0 1,0-1-1,-1 1 1,1-1-1,-1 0 0,0 0 1,0 0-1,0-1 1,-1 1-1,1-1 1,3-6-1,6-7-217,-1-2 0,16-32 0,1 0-288,-25 43 441,0 0 1,-1 0-1,0 0 0,0 0 1,0 0-1,-1-1 0,1-11 1,-2 11 21,1 1 0,0-1 1,1 1-1,-1-1 0,1 1 1,7-12-1,12-23-154,-18 33 170,1 1-1,0-1 1,0 1-1,1 0 0,8-9 1,1-1-208,-1-1 1,16-27 0,19-27-384,11-8-131,27-31 471,-73 96 37,20-36 1,-24 35 282,1 1 0,25-29 1,-18 25-51,26-42 0,-35 50-36,-5 6 8,0 1 0,0-1 1,-1 0-1,4-12 1,-6 17 52,-1 0 1,1 0 0,0 0 0,-1 0-1,0 0 1,0 0 0,1 0 0,-1 0-1,0 0 1,-1 0 0,1-1-1,0 1 1,-1 0 0,1 0 0,-1 0-1,1 0 1,-1 0 0,0 0-1,0 1 1,-2-5 0,2 6 14,-1-1 1,1 0-1,-1 1 1,1-1-1,-1 1 1,1 0-1,-1-1 1,1 1-1,-1 0 1,0 0-1,1 0 1,-1 0-1,1 0 1,-1 0-1,1 0 1,-1 1-1,1-1 1,-1 1-1,1-1 1,-1 1-1,1-1 1,-1 1-1,1 0 1,-2 1-1,-34 20 133,13 0 51,1 0 0,0 2-1,-36 52 1,50-61-115,1 0 0,1 1 0,0 0 0,1 0-1,1 0 1,-4 23 0,3-17 40,0-1 0,-16 39 0,16-49-79,-4 8 74,1 0 0,1 1 0,-10 34-1,-29 87 449,42-128-501,0 0 0,-1 0 0,-1 0 0,0-1 0,-1 1 0,0-2 1,-10 12-1,3-2 49,-24 34 159,30-44-256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93074D-6E57-47C3-B44C-8CD65C8CE3BD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34C7C-ABF5-4F09-93AA-8C2DDD9A4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903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E29D8-4E62-0060-70A5-6078CB4DA8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A50069-6C61-EC15-E2CE-E43EE29338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3E309-9485-9124-681D-9850AF86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C3252-390B-44E6-9EFE-33EF1D95B30B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1C276C-DEEB-CCEB-C6FF-204E853AA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79D4A8-7489-DDBE-EAE2-79FA6A8A3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D6197-FFDE-4E3B-A488-1E7AF3144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044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CA924-57B7-03A6-14D6-2AD2C48FB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3E972-7957-166D-3CDD-D185A0A8F2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432AE4-8435-6C81-B19B-46FBDA887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C3252-390B-44E6-9EFE-33EF1D95B30B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8DC1A4-624C-424F-F770-D4707836C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86971E-7045-5388-A85E-5E94A6964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D6197-FFDE-4E3B-A488-1E7AF3144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963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22427-9F4A-3109-9FA9-BEF3126D0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A69211-C25B-9DAD-9F22-1D7297650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F4CBF-5C7F-EC7B-605B-EA59E4AED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C3252-390B-44E6-9EFE-33EF1D95B30B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DC296-D616-95DA-1499-8D52BC183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75825C-1D46-B1F2-A55F-1312B6866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D6197-FFDE-4E3B-A488-1E7AF3144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69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06638-C668-FE41-1CF9-F3A089E4A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1488B-DAE1-3C0C-A532-A2F42FE193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DBA44D-8F36-9773-5711-2FB147D007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B36601-F21E-1E7F-B5C7-6761B9DFB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C3252-390B-44E6-9EFE-33EF1D95B30B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EEBA6-2986-CB6C-F950-6EE552C66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E181E-8867-08E2-4F71-82514C749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D6197-FFDE-4E3B-A488-1E7AF3144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231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BF576-F01A-3234-F6E6-5CA59DE42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3EE1B6-C99F-4330-09E4-156EC1894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F290E5-47F0-1065-298E-E2B2673A58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6534AB-4B3F-32D7-E36C-564E291857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8630A-F27D-B200-56FF-2F1A5CBD0A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87AF49-DEF5-A30A-A750-AE760A51E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C3252-390B-44E6-9EFE-33EF1D95B30B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4CDF21-2D3D-17BC-1209-63017ED92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E9D613-5B31-2746-CB0F-BB203754D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D6197-FFDE-4E3B-A488-1E7AF3144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452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0A7B8-1259-D5E2-5D53-95163749D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D1F88C-15B7-DEC6-F3A9-F1F9ED441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C3252-390B-44E6-9EFE-33EF1D95B30B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36B547-7623-8515-6766-575A263FF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4F60DF-EC77-84AF-E5FA-AA26929D4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D6197-FFDE-4E3B-A488-1E7AF3144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654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314E23-6FDC-6A6A-2C3E-1D8EDC48C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C3252-390B-44E6-9EFE-33EF1D95B30B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6DDEC8-9EE8-E8A5-78F6-D9DBCCB92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D2D901-9CBD-D02C-73E0-6CF473381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D6197-FFDE-4E3B-A488-1E7AF3144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169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2D52F-1C2A-7371-D776-E3B866505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C0FBB-F932-0D38-9802-2C5E414E2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EC0BC3-82BE-5EE4-3529-B3FB060CF5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FF8E4-5800-544E-7E9B-E8466E253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C3252-390B-44E6-9EFE-33EF1D95B30B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A3FD35-5891-681B-AAA7-AEB2E5CC9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FDABE-6854-51C0-631B-2B96C2D98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D6197-FFDE-4E3B-A488-1E7AF3144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346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1B60D-1836-8661-A7B8-0EA5AC8DD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D6316F-C0F3-80EF-F8DA-012C1627E8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094D8-BF38-5EA9-9BF4-61BC5B8155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C7A742-9203-9508-119C-78C95BD79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C3252-390B-44E6-9EFE-33EF1D95B30B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A41933-019A-A46C-DA27-D6D7C2441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45B644-EA98-1F9A-99FF-88E89254F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D6197-FFDE-4E3B-A488-1E7AF3144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197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D1C5E-ADE2-1068-73E1-C57F8EE43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670E92-E14E-828A-14DC-B4D6E0DFC8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590D35-9CE3-42BA-0FB2-F39A59E19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C3252-390B-44E6-9EFE-33EF1D95B30B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C5259-E8FC-40C1-A1C1-FA03D5923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D01D6E-45CB-35B8-DDDC-441224F01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D6197-FFDE-4E3B-A488-1E7AF3144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658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5350BF-7CCC-3B35-0205-82637896B5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20056B-5C2C-0EE3-0D18-7528FE2524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7A562-EF50-E5DB-CDAE-F0E82421C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C3252-390B-44E6-9EFE-33EF1D95B30B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9D11D-AE2F-A602-B7E5-AC37D4336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76DCD-71F8-AD31-37E0-45C516AE3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D6197-FFDE-4E3B-A488-1E7AF3144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3307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327F7-0E5B-AC8A-8E83-50B95A3D5F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5B8BF6-B452-261C-9352-63BF063222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7A2E6F-0412-6180-DB14-6FF1BD3B4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6DED6-28A0-4C69-8820-8720E0C11E3B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22AFA-3CF4-1DB6-1BA0-8848BF7FC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E82605-9ED5-6C37-DB69-81E29190F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56F3B-577D-47AE-9239-D0AAC612B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4844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FE0F1-C973-B696-9D9D-73738308F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F154C-8FA2-72F5-7223-FF4238BBA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8977BE-AC20-C009-7F9F-FE4F18A2A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6DED6-28A0-4C69-8820-8720E0C11E3B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034A6-E637-14A6-678C-1F7B59240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B7394-3322-A6F9-F15B-6B15E9BD3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56F3B-577D-47AE-9239-D0AAC612B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2240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018F2-6719-04C2-52E0-50201ED5D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3488C-BE8A-00D1-1C17-FC2EBBA9F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AAAC70-CB9E-0FF5-C4F6-16BD51315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6DED6-28A0-4C69-8820-8720E0C11E3B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F1215F-2ACE-04A9-9D9F-422939937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723E7-17E6-CF8A-5D06-43CAF7E74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56F3B-577D-47AE-9239-D0AAC612B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1985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86985-D148-089D-834A-949237B5A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1AA72-CCC3-026C-82BC-4CE21E9462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AD73AC-DE52-EAC0-2A08-38BBBD670B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6AC1C7-DA8C-6B91-9737-88873F636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6DED6-28A0-4C69-8820-8720E0C11E3B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E4080A-B7FC-520B-0338-E310B05DE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8142AD-60FC-41F8-0D26-02222B5DC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56F3B-577D-47AE-9239-D0AAC612B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2197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9941A-93B7-DDE2-86FD-16DF02FC9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865AB2-25C8-0022-DC90-2D799E434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98BBC0-DD69-A5C7-2990-0EA98F91D0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2D36A3-A9BD-E667-E45E-C8615D25D8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218B54-3895-A33D-0254-AA73808DB9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ED3E8F-61C9-BEBF-9525-16ED911DD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6DED6-28A0-4C69-8820-8720E0C11E3B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D476B9-4497-F636-AF83-C79A7DD6B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C62DB1-F511-F1DB-9487-E70B4A1D9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56F3B-577D-47AE-9239-D0AAC612B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1117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7BFF2-DEA3-75CC-FD91-9D56E817C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861EC4-3130-2B0B-204D-D31EEAA5D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6DED6-28A0-4C69-8820-8720E0C11E3B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2136F3-C137-3FC1-C3ED-222CCEB6B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E9B5FA-514E-EE73-D867-73EF7D0B3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56F3B-577D-47AE-9239-D0AAC612B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8681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175C32-83AE-D008-EE69-F45E584F6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6DED6-28A0-4C69-8820-8720E0C11E3B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D15B16-F30E-ADBA-4C2B-16EF79C0B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E3E28-8F59-4755-93A4-4BE4385FF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56F3B-577D-47AE-9239-D0AAC612B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3592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9F32A-1E1B-6C27-5C57-75E26595A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624F8-F513-ECA2-0DBA-93E4F1A28C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BA9ABC-DAD5-FD17-C8D7-92F2F46C88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22C116-A605-B328-4E52-A62FFB357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6DED6-28A0-4C69-8820-8720E0C11E3B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5B2C4A-8F98-A84D-20F5-CB890D1CB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56ED77-F419-E20E-2364-B42E6CC44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56F3B-577D-47AE-9239-D0AAC612B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8824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78E5F-402C-DA3C-EFC0-25F776661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5FD459-B785-8E13-0969-898E54C1F0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E30989-09F1-2354-10FE-1E9BBEA73A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1D5F97-878E-8355-D202-A168447E6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6DED6-28A0-4C69-8820-8720E0C11E3B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4F23BF-521C-861B-975F-67EFFAB56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86708-E255-75D0-916D-45548133D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56F3B-577D-47AE-9239-D0AAC612B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2334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2EA01-ACCA-88B7-8580-8F1667BE8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3C3C50-FC4B-6C6E-A686-6D42ED03C1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7FAE49-02F7-8025-0FCC-965FE3FF5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6DED6-28A0-4C69-8820-8720E0C11E3B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63FE98-DAF0-8E83-A5D5-2B39A8689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BFFA2-F8AA-57E2-5FA1-60EA87D98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56F3B-577D-47AE-9239-D0AAC612B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903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7E5A98-E323-A073-B6D0-F401CDBA16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BD33CC-2F78-6E54-B5C2-31868B2641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6BA2B-B365-0D45-8BB4-A344D18C2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6DED6-28A0-4C69-8820-8720E0C11E3B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E21AD2-E2F0-32C6-56D2-8BB3A7D8F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03690B-869F-2A74-F1D9-88C3FDDEB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56F3B-577D-47AE-9239-D0AAC612B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395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DD8F6D-BA00-F73A-E6FD-27904815F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F77F06-8610-310F-67B1-A16A75BDEB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B01F8-06FA-74AC-BA38-1D50C4AA99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6C3252-390B-44E6-9EFE-33EF1D95B30B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93BB5-CF14-21E0-B21C-58A5912897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B65E8-2E68-AA30-BFC7-3DC4F92CF7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2D6197-FFDE-4E3B-A488-1E7AF3144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779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8B35A8-BC29-85D9-B251-F4E0C0DA9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196AA-6A00-1E82-E67D-903337131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7ADCF-F322-DBFC-FB62-53F6684241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B6DED6-28A0-4C69-8820-8720E0C11E3B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21A42-E321-D04D-4AA3-665FA9B077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1C99C-FCC1-DA75-0F35-D1DD636B1B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556F3B-577D-47AE-9239-D0AAC612B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132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7.png"/><Relationship Id="rId3" Type="http://schemas.openxmlformats.org/officeDocument/2006/relationships/image" Target="../media/image11.png"/><Relationship Id="rId7" Type="http://schemas.openxmlformats.org/officeDocument/2006/relationships/customXml" Target="../ink/ink2.xml"/><Relationship Id="rId12" Type="http://schemas.openxmlformats.org/officeDocument/2006/relationships/image" Target="../media/image16.png"/><Relationship Id="rId17" Type="http://schemas.openxmlformats.org/officeDocument/2006/relationships/image" Target="../media/image19.png"/><Relationship Id="rId2" Type="http://schemas.openxmlformats.org/officeDocument/2006/relationships/image" Target="../media/image10.png"/><Relationship Id="rId16" Type="http://schemas.openxmlformats.org/officeDocument/2006/relationships/customXml" Target="../ink/ink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customXml" Target="../ink/ink4.xml"/><Relationship Id="rId5" Type="http://schemas.openxmlformats.org/officeDocument/2006/relationships/customXml" Target="../ink/ink1.xml"/><Relationship Id="rId15" Type="http://schemas.openxmlformats.org/officeDocument/2006/relationships/image" Target="../media/image18.png"/><Relationship Id="rId10" Type="http://schemas.openxmlformats.org/officeDocument/2006/relationships/image" Target="../media/image15.png"/><Relationship Id="rId4" Type="http://schemas.openxmlformats.org/officeDocument/2006/relationships/image" Target="../media/image12.png"/><Relationship Id="rId9" Type="http://schemas.openxmlformats.org/officeDocument/2006/relationships/customXml" Target="../ink/ink3.xml"/><Relationship Id="rId14" Type="http://schemas.openxmlformats.org/officeDocument/2006/relationships/customXml" Target="../ink/ink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B6C3-CDE1-0E03-CBE0-7B0DA50B3A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7287" y="2042319"/>
            <a:ext cx="9144000" cy="2387600"/>
          </a:xfrm>
        </p:spPr>
        <p:txBody>
          <a:bodyPr/>
          <a:lstStyle/>
          <a:p>
            <a:r>
              <a:rPr lang="en-US">
                <a:solidFill>
                  <a:srgbClr val="484137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Student Branch Chapter  @ USF</a:t>
            </a:r>
          </a:p>
        </p:txBody>
      </p:sp>
      <p:pic>
        <p:nvPicPr>
          <p:cNvPr id="5" name="Picture 4" descr="A black background with a white object&#10;&#10;Description automatically generated">
            <a:extLst>
              <a:ext uri="{FF2B5EF4-FFF2-40B4-BE49-F238E27FC236}">
                <a16:creationId xmlns:a16="http://schemas.microsoft.com/office/drawing/2014/main" id="{F5B97FD1-41FA-C0B1-65CF-C4A4D92D49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6913" y="872490"/>
            <a:ext cx="4754891" cy="1455423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81D6E9A7-BAB7-2229-BC4E-F3A3608DC39B}"/>
              </a:ext>
            </a:extLst>
          </p:cNvPr>
          <p:cNvSpPr txBox="1">
            <a:spLocks/>
          </p:cNvSpPr>
          <p:nvPr/>
        </p:nvSpPr>
        <p:spPr>
          <a:xfrm>
            <a:off x="6810576" y="4405948"/>
            <a:ext cx="4868334" cy="2387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>
              <a:solidFill>
                <a:srgbClr val="F09616"/>
              </a:solidFill>
            </a:endParaRPr>
          </a:p>
          <a:p>
            <a:pPr algn="r"/>
            <a:endParaRPr lang="en-US">
              <a:solidFill>
                <a:srgbClr val="F09616"/>
              </a:solidFill>
            </a:endParaRPr>
          </a:p>
          <a:p>
            <a:pPr algn="r"/>
            <a:r>
              <a:rPr lang="en-US" sz="5100" b="1">
                <a:solidFill>
                  <a:srgbClr val="F09616"/>
                </a:solidFill>
              </a:rPr>
              <a:t>Get right with industry certifications </a:t>
            </a:r>
          </a:p>
          <a:p>
            <a:pPr algn="r"/>
            <a:r>
              <a:rPr lang="en-US" sz="3400" b="1">
                <a:solidFill>
                  <a:srgbClr val="F09616"/>
                </a:solidFill>
              </a:rPr>
              <a:t>Hardware Lead: Sebastian Pulgar </a:t>
            </a:r>
          </a:p>
        </p:txBody>
      </p:sp>
    </p:spTree>
    <p:extLst>
      <p:ext uri="{BB962C8B-B14F-4D97-AF65-F5344CB8AC3E}">
        <p14:creationId xmlns:p14="http://schemas.microsoft.com/office/powerpoint/2010/main" val="1486381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47448B7-EA96-3548-2B84-B5661A71C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Check in!  Support us  </a:t>
            </a:r>
          </a:p>
        </p:txBody>
      </p:sp>
      <p:pic>
        <p:nvPicPr>
          <p:cNvPr id="8" name="Content Placeholder 4" descr="A cartoon of a cat with a computer chip&#10;&#10;Description automatically generated">
            <a:extLst>
              <a:ext uri="{FF2B5EF4-FFF2-40B4-BE49-F238E27FC236}">
                <a16:creationId xmlns:a16="http://schemas.microsoft.com/office/drawing/2014/main" id="{66103DC9-3175-CE2B-D56F-E09DF901F3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83" b="89987" l="7218" r="96653">
                        <a14:foregroundMark x1="10251" y1="79324" x2="10565" y2="70611"/>
                        <a14:foregroundMark x1="7322" y1="68270" x2="7845" y2="71131"/>
                        <a14:foregroundMark x1="20607" y1="89337" x2="20397" y2="88036"/>
                        <a14:foregroundMark x1="23431" y1="89597" x2="35042" y2="89987"/>
                        <a14:foregroundMark x1="91004" y1="49805" x2="96653" y2="40182"/>
                        <a14:foregroundMark x1="7322" y1="71131" x2="8368" y2="58648"/>
                        <a14:backgroundMark x1="9310" y1="52926" x2="4393" y2="602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2087" y="2642616"/>
            <a:ext cx="4479233" cy="3605784"/>
          </a:xfrm>
          <a:prstGeom prst="rect">
            <a:avLst/>
          </a:prstGeom>
        </p:spPr>
      </p:pic>
      <p:pic>
        <p:nvPicPr>
          <p:cNvPr id="3" name="Picture 2" descr="A qr code with a few squares&#10;&#10;AI-generated content may be incorrect.">
            <a:extLst>
              <a:ext uri="{FF2B5EF4-FFF2-40B4-BE49-F238E27FC236}">
                <a16:creationId xmlns:a16="http://schemas.microsoft.com/office/drawing/2014/main" id="{645144AD-D80D-6839-49AA-542176734A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5114" y="2023533"/>
            <a:ext cx="41148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179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D4D87-9B19-3804-27E2-E0E5EAAC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484137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Follow Us </a:t>
            </a:r>
          </a:p>
        </p:txBody>
      </p:sp>
      <p:pic>
        <p:nvPicPr>
          <p:cNvPr id="5" name="Content Placeholder 4" descr="A cartoon of a cat with a computer chip&#10;&#10;Description automatically generated">
            <a:extLst>
              <a:ext uri="{FF2B5EF4-FFF2-40B4-BE49-F238E27FC236}">
                <a16:creationId xmlns:a16="http://schemas.microsoft.com/office/drawing/2014/main" id="{A782521A-4FAC-B8C9-2C4F-AEFA7E328F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83" b="89987" l="7218" r="96653">
                        <a14:foregroundMark x1="10251" y1="79324" x2="10565" y2="70611"/>
                        <a14:foregroundMark x1="7322" y1="68270" x2="7845" y2="71131"/>
                        <a14:foregroundMark x1="20607" y1="89337" x2="20397" y2="88036"/>
                        <a14:foregroundMark x1="23431" y1="89597" x2="35042" y2="89987"/>
                        <a14:foregroundMark x1="91004" y1="49805" x2="96653" y2="40182"/>
                        <a14:foregroundMark x1="7322" y1="71131" x2="8368" y2="58648"/>
                        <a14:backgroundMark x1="9310" y1="52926" x2="4393" y2="602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2497" y="365125"/>
            <a:ext cx="1647904" cy="1325563"/>
          </a:xfr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1933657-C027-654D-F1FA-C200D0EA0A63}"/>
              </a:ext>
            </a:extLst>
          </p:cNvPr>
          <p:cNvSpPr txBox="1"/>
          <p:nvPr/>
        </p:nvSpPr>
        <p:spPr>
          <a:xfrm>
            <a:off x="5326381" y="1410589"/>
            <a:ext cx="686561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/>
            <a:r>
              <a:rPr lang="en-US" sz="3200">
                <a:solidFill>
                  <a:srgbClr val="484137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Discord</a:t>
            </a:r>
          </a:p>
          <a:p>
            <a:pPr defTabSz="914377"/>
            <a:endParaRPr lang="en-US" sz="3200">
              <a:solidFill>
                <a:srgbClr val="484137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defTabSz="914377"/>
            <a:r>
              <a:rPr lang="en-US" sz="3200">
                <a:solidFill>
                  <a:srgbClr val="484137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LinkedIn</a:t>
            </a:r>
          </a:p>
          <a:p>
            <a:pPr defTabSz="914377"/>
            <a:endParaRPr lang="en-US" sz="3200">
              <a:solidFill>
                <a:srgbClr val="484137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defTabSz="914377"/>
            <a:r>
              <a:rPr lang="en-US" sz="3200">
                <a:solidFill>
                  <a:srgbClr val="484137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Instagram</a:t>
            </a:r>
          </a:p>
          <a:p>
            <a:pPr defTabSz="914377"/>
            <a:endParaRPr lang="en-US" sz="3200">
              <a:solidFill>
                <a:srgbClr val="484137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defTabSz="914377"/>
            <a:r>
              <a:rPr lang="en-US" sz="3200">
                <a:solidFill>
                  <a:srgbClr val="484137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Bulls Connect</a:t>
            </a:r>
          </a:p>
          <a:p>
            <a:pPr defTabSz="914377"/>
            <a:endParaRPr lang="en-US" sz="3200">
              <a:solidFill>
                <a:srgbClr val="484137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defTabSz="914377"/>
            <a:r>
              <a:rPr lang="en-US" sz="3200">
                <a:solidFill>
                  <a:srgbClr val="484137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GitHub (We will need that one!!!)</a:t>
            </a:r>
          </a:p>
        </p:txBody>
      </p:sp>
      <p:pic>
        <p:nvPicPr>
          <p:cNvPr id="9" name="Picture 8" descr="A qr code with a star in the middle&#10;&#10;Description automatically generated">
            <a:extLst>
              <a:ext uri="{FF2B5EF4-FFF2-40B4-BE49-F238E27FC236}">
                <a16:creationId xmlns:a16="http://schemas.microsoft.com/office/drawing/2014/main" id="{E51B0D0D-9F84-D362-2D7F-018373AAAA4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500150"/>
            <a:ext cx="4375975" cy="437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049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82227D-5696-C26C-829F-721388961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95991-49B3-FF29-99B9-C9E161113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7982" y="412346"/>
            <a:ext cx="10515600" cy="1325563"/>
          </a:xfrm>
        </p:spPr>
        <p:txBody>
          <a:bodyPr/>
          <a:lstStyle/>
          <a:p>
            <a:r>
              <a:rPr lang="en-US">
                <a:solidFill>
                  <a:srgbClr val="484137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About me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99F26-BED3-473B-4F0C-FCE365B14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3438" y="1785130"/>
            <a:ext cx="5333189" cy="424694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>
                <a:solidFill>
                  <a:srgbClr val="484137"/>
                </a:solidFill>
              </a:rPr>
              <a:t>I am Venezuelan</a:t>
            </a:r>
          </a:p>
          <a:p>
            <a:pPr>
              <a:lnSpc>
                <a:spcPct val="100000"/>
              </a:lnSpc>
            </a:pPr>
            <a:r>
              <a:rPr lang="en-US" sz="3200">
                <a:solidFill>
                  <a:srgbClr val="484137"/>
                </a:solidFill>
              </a:rPr>
              <a:t>I love playing basketball</a:t>
            </a:r>
          </a:p>
          <a:p>
            <a:pPr>
              <a:lnSpc>
                <a:spcPct val="100000"/>
              </a:lnSpc>
            </a:pPr>
            <a:r>
              <a:rPr lang="en-US" sz="3200">
                <a:solidFill>
                  <a:srgbClr val="484137"/>
                </a:solidFill>
              </a:rPr>
              <a:t>Eating mass amounts of food is my hobby</a:t>
            </a:r>
          </a:p>
          <a:p>
            <a:pPr>
              <a:lnSpc>
                <a:spcPct val="100000"/>
              </a:lnSpc>
            </a:pPr>
            <a:r>
              <a:rPr lang="en-US" sz="3200">
                <a:solidFill>
                  <a:srgbClr val="484137"/>
                </a:solidFill>
              </a:rPr>
              <a:t>I believe steak is best cooked on a pan</a:t>
            </a:r>
          </a:p>
          <a:p>
            <a:pPr marL="0" indent="0">
              <a:buNone/>
            </a:pPr>
            <a:endParaRPr lang="en-US" sz="3200"/>
          </a:p>
        </p:txBody>
      </p:sp>
      <p:pic>
        <p:nvPicPr>
          <p:cNvPr id="4" name="Content Placeholder 4" descr="A cartoon of a cat with a computer chip&#10;&#10;Description automatically generated">
            <a:extLst>
              <a:ext uri="{FF2B5EF4-FFF2-40B4-BE49-F238E27FC236}">
                <a16:creationId xmlns:a16="http://schemas.microsoft.com/office/drawing/2014/main" id="{B8F6F3B7-5B29-A85B-1126-C84EFBE33E1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83" b="89987" l="7218" r="96653">
                        <a14:foregroundMark x1="10251" y1="79324" x2="10565" y2="70611"/>
                        <a14:foregroundMark x1="7322" y1="68270" x2="7845" y2="71131"/>
                        <a14:foregroundMark x1="20607" y1="89337" x2="20397" y2="88036"/>
                        <a14:foregroundMark x1="23431" y1="89597" x2="35042" y2="89987"/>
                        <a14:foregroundMark x1="91004" y1="49805" x2="96653" y2="40182"/>
                        <a14:foregroundMark x1="7322" y1="71131" x2="8368" y2="58648"/>
                        <a14:backgroundMark x1="9310" y1="52926" x2="4393" y2="602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2497" y="365125"/>
            <a:ext cx="1647904" cy="13255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4293E46-1916-8F5D-DC0F-8A3B9D8431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7982" y="1464732"/>
            <a:ext cx="3822700" cy="5096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803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270FC-0843-092B-A0FD-8FDE0A94D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7340" y="110126"/>
            <a:ext cx="7757320" cy="1325563"/>
          </a:xfrm>
        </p:spPr>
        <p:txBody>
          <a:bodyPr/>
          <a:lstStyle/>
          <a:p>
            <a:r>
              <a:rPr lang="en-US">
                <a:solidFill>
                  <a:srgbClr val="484137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What we are covering today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0BA6EB-657C-3E42-D8A9-4F43C0DEBE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1021"/>
            <a:ext cx="10515600" cy="5210645"/>
          </a:xfrm>
        </p:spPr>
        <p:txBody>
          <a:bodyPr/>
          <a:lstStyle/>
          <a:p>
            <a:r>
              <a:rPr lang="en-US">
                <a:solidFill>
                  <a:srgbClr val="484137"/>
                </a:solidFill>
              </a:rPr>
              <a:t>What are certifications</a:t>
            </a:r>
          </a:p>
          <a:p>
            <a:r>
              <a:rPr lang="en-US">
                <a:solidFill>
                  <a:srgbClr val="484137"/>
                </a:solidFill>
              </a:rPr>
              <a:t>Why you should get certifications</a:t>
            </a:r>
          </a:p>
          <a:p>
            <a:r>
              <a:rPr lang="en-US" err="1">
                <a:solidFill>
                  <a:srgbClr val="484137"/>
                </a:solidFill>
              </a:rPr>
              <a:t>ComptTIA</a:t>
            </a:r>
            <a:endParaRPr lang="en-US">
              <a:solidFill>
                <a:srgbClr val="484137"/>
              </a:solidFill>
            </a:endParaRPr>
          </a:p>
          <a:p>
            <a:r>
              <a:rPr lang="en-US">
                <a:solidFill>
                  <a:srgbClr val="484137"/>
                </a:solidFill>
              </a:rPr>
              <a:t>How to study for these certifications</a:t>
            </a:r>
          </a:p>
          <a:p>
            <a:r>
              <a:rPr lang="en-US">
                <a:solidFill>
                  <a:srgbClr val="484137"/>
                </a:solidFill>
              </a:rPr>
              <a:t>Cloud Computing Certifications</a:t>
            </a:r>
          </a:p>
          <a:p>
            <a:r>
              <a:rPr lang="en-US">
                <a:solidFill>
                  <a:srgbClr val="484137"/>
                </a:solidFill>
              </a:rPr>
              <a:t>Coding related Certs?</a:t>
            </a:r>
          </a:p>
          <a:p>
            <a:r>
              <a:rPr lang="en-US">
                <a:solidFill>
                  <a:srgbClr val="484137"/>
                </a:solidFill>
              </a:rPr>
              <a:t>Future events</a:t>
            </a:r>
          </a:p>
          <a:p>
            <a:endParaRPr lang="en-US">
              <a:solidFill>
                <a:srgbClr val="484137"/>
              </a:solidFill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46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BC7CB-4147-C1AB-C40C-D97AE6312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are certifications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D4E1C-3587-EB28-30AA-D3D875BDFE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/>
              <a:t>Certifications are official credentials from companies like </a:t>
            </a:r>
            <a:r>
              <a:rPr lang="en-US" err="1"/>
              <a:t>Comptia</a:t>
            </a:r>
            <a:r>
              <a:rPr lang="en-US"/>
              <a:t>, Amazon, Google, Microsoft, and other major companies.</a:t>
            </a:r>
          </a:p>
          <a:p>
            <a:pPr>
              <a:buFontTx/>
              <a:buChar char="-"/>
            </a:pPr>
            <a:r>
              <a:rPr lang="en-US" err="1"/>
              <a:t>Aquiring</a:t>
            </a:r>
            <a:r>
              <a:rPr lang="en-US"/>
              <a:t> these allows you to stand out among your peers and really put you ahead of others especially in college.</a:t>
            </a:r>
          </a:p>
          <a:p>
            <a:pPr>
              <a:buFontTx/>
              <a:buChar char="-"/>
            </a:pPr>
            <a:r>
              <a:rPr lang="en-US"/>
              <a:t>Allows you to prove what you know on your resume</a:t>
            </a:r>
          </a:p>
          <a:p>
            <a:pPr>
              <a:buFontTx/>
              <a:buChar char="-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609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1C361-CC46-22D9-496B-9EDECA543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533" y="2512218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/>
              <a:t>You can land pretty much any job In a computer related field WITH CERTIFICATIONS</a:t>
            </a:r>
          </a:p>
        </p:txBody>
      </p:sp>
    </p:spTree>
    <p:extLst>
      <p:ext uri="{BB962C8B-B14F-4D97-AF65-F5344CB8AC3E}">
        <p14:creationId xmlns:p14="http://schemas.microsoft.com/office/powerpoint/2010/main" val="3341228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B6C3-CDE1-0E03-CBE0-7B0DA50B3A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7286" y="1409715"/>
            <a:ext cx="9144000" cy="2387600"/>
          </a:xfrm>
        </p:spPr>
        <p:txBody>
          <a:bodyPr/>
          <a:lstStyle/>
          <a:p>
            <a:r>
              <a:rPr lang="en-US">
                <a:solidFill>
                  <a:srgbClr val="484137"/>
                </a:solidFill>
                <a:latin typeface="ADLaM Display"/>
                <a:ea typeface="ADLaM Display"/>
                <a:cs typeface="ADLaM Display"/>
              </a:rPr>
              <a:t>CompTIA Certifications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180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270FC-0843-092B-A0FD-8FDE0A94D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15625" cy="1335088"/>
          </a:xfrm>
        </p:spPr>
        <p:txBody>
          <a:bodyPr/>
          <a:lstStyle/>
          <a:p>
            <a:r>
              <a:rPr lang="en-US">
                <a:solidFill>
                  <a:srgbClr val="484137"/>
                </a:solidFill>
                <a:latin typeface="ADLaM Display"/>
                <a:ea typeface="ADLaM Display"/>
                <a:cs typeface="ADLaM Display"/>
              </a:rPr>
              <a:t>CompTIA A+</a:t>
            </a:r>
            <a:endParaRPr lang="en-US">
              <a:solidFill>
                <a:srgbClr val="000000"/>
              </a:solidFill>
              <a:latin typeface="ADLaM Display"/>
              <a:ea typeface="ADLaM Display"/>
              <a:cs typeface="ADLaM Display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D7F5B4-C44E-1FDF-6CD9-3D2053A7B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3522"/>
            <a:ext cx="10853492" cy="475394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ts val="750"/>
              </a:spcBef>
              <a:buFont typeface="Arial"/>
              <a:buChar char="•"/>
            </a:pPr>
            <a:r>
              <a:rPr lang="en-US" sz="2400">
                <a:latin typeface="Arial"/>
                <a:cs typeface="Arial"/>
              </a:rPr>
              <a:t>Need to do</a:t>
            </a:r>
            <a:r>
              <a:rPr lang="en-US" sz="2400" b="1">
                <a:latin typeface="Arial"/>
                <a:cs typeface="Arial"/>
              </a:rPr>
              <a:t> 2 exams</a:t>
            </a:r>
            <a:r>
              <a:rPr lang="en-US" sz="2400">
                <a:latin typeface="Arial"/>
                <a:cs typeface="Arial"/>
              </a:rPr>
              <a:t> to get certified</a:t>
            </a:r>
          </a:p>
          <a:p>
            <a:pPr>
              <a:spcBef>
                <a:spcPts val="750"/>
              </a:spcBef>
              <a:buFont typeface="Arial"/>
              <a:buChar char="•"/>
            </a:pPr>
            <a:r>
              <a:rPr lang="en-US" sz="2400" b="1">
                <a:latin typeface="Arial"/>
                <a:cs typeface="Arial"/>
              </a:rPr>
              <a:t>Duration</a:t>
            </a:r>
            <a:r>
              <a:rPr lang="en-US" sz="2400">
                <a:latin typeface="Arial"/>
                <a:cs typeface="Arial"/>
              </a:rPr>
              <a:t>: </a:t>
            </a:r>
            <a:r>
              <a:rPr lang="en-US" sz="2400" b="1">
                <a:latin typeface="Arial"/>
                <a:cs typeface="Arial"/>
              </a:rPr>
              <a:t>90 minutes</a:t>
            </a:r>
            <a:endParaRPr lang="en-US"/>
          </a:p>
          <a:p>
            <a:pPr>
              <a:spcBef>
                <a:spcPts val="750"/>
              </a:spcBef>
              <a:buFont typeface="Arial"/>
              <a:buChar char="•"/>
            </a:pPr>
            <a:r>
              <a:rPr lang="en-US" sz="2400" b="1">
                <a:latin typeface="Arial"/>
                <a:cs typeface="Arial"/>
              </a:rPr>
              <a:t>Exam format:</a:t>
            </a:r>
            <a:r>
              <a:rPr lang="en-US" sz="2400">
                <a:latin typeface="Arial"/>
                <a:cs typeface="Arial"/>
              </a:rPr>
              <a:t> </a:t>
            </a:r>
            <a:r>
              <a:rPr lang="en-US" sz="2400" b="1">
                <a:latin typeface="Arial"/>
                <a:cs typeface="Arial"/>
              </a:rPr>
              <a:t>90 questions</a:t>
            </a:r>
            <a:endParaRPr lang="en-US" sz="2400">
              <a:latin typeface="Arial"/>
              <a:cs typeface="Arial"/>
            </a:endParaRPr>
          </a:p>
          <a:p>
            <a:pPr>
              <a:spcBef>
                <a:spcPts val="750"/>
              </a:spcBef>
              <a:buFont typeface="Arial"/>
              <a:buChar char="•"/>
            </a:pPr>
            <a:r>
              <a:rPr lang="en-US" sz="2400" b="1">
                <a:latin typeface="Arial"/>
                <a:cs typeface="Arial"/>
              </a:rPr>
              <a:t>Cost</a:t>
            </a:r>
            <a:r>
              <a:rPr lang="en-US" sz="2400">
                <a:latin typeface="Arial"/>
                <a:cs typeface="Arial"/>
              </a:rPr>
              <a:t>: </a:t>
            </a:r>
            <a:r>
              <a:rPr lang="en-US" sz="2400" b="1">
                <a:solidFill>
                  <a:srgbClr val="000000"/>
                </a:solidFill>
                <a:latin typeface="Arial"/>
                <a:cs typeface="Arial"/>
              </a:rPr>
              <a:t>530</a:t>
            </a:r>
            <a:r>
              <a:rPr lang="en-US" sz="2400" b="1">
                <a:latin typeface="Arial"/>
                <a:cs typeface="Arial"/>
              </a:rPr>
              <a:t>$</a:t>
            </a:r>
            <a:endParaRPr lang="en-US" sz="2400">
              <a:latin typeface="Arial"/>
              <a:cs typeface="Arial"/>
            </a:endParaRPr>
          </a:p>
          <a:p>
            <a:pPr>
              <a:spcBef>
                <a:spcPts val="750"/>
              </a:spcBef>
              <a:buFont typeface="Arial"/>
              <a:buChar char="•"/>
            </a:pPr>
            <a:r>
              <a:rPr lang="en-US" sz="2400">
                <a:latin typeface="Arial"/>
                <a:cs typeface="Arial"/>
              </a:rPr>
              <a:t>675 out of 1000 to pass on 1st one, 700 out of 1000 on 2nd one</a:t>
            </a:r>
            <a:endParaRPr lang="en-US"/>
          </a:p>
          <a:p>
            <a:pPr>
              <a:spcBef>
                <a:spcPts val="750"/>
              </a:spcBef>
              <a:buFont typeface="Arial"/>
              <a:buChar char="•"/>
            </a:pPr>
            <a:r>
              <a:rPr lang="en-US" sz="2400">
                <a:latin typeface="Arial"/>
                <a:cs typeface="Arial"/>
              </a:rPr>
              <a:t>Topics covered: </a:t>
            </a:r>
          </a:p>
          <a:p>
            <a:pPr lvl="1">
              <a:spcBef>
                <a:spcPts val="750"/>
              </a:spcBef>
              <a:buFont typeface="Courier New"/>
              <a:buChar char="o"/>
            </a:pPr>
            <a:r>
              <a:rPr lang="en-US" sz="2000">
                <a:latin typeface="Arial"/>
                <a:cs typeface="Arial"/>
              </a:rPr>
              <a:t>Exam 1                                                                         Exam 2</a:t>
            </a:r>
          </a:p>
          <a:p>
            <a:pPr lvl="1">
              <a:buFont typeface="Courier New"/>
              <a:buChar char="o"/>
            </a:pPr>
            <a:r>
              <a:rPr lang="en-US">
                <a:latin typeface="Arial"/>
                <a:cs typeface="Arial"/>
              </a:rPr>
              <a:t>Mobile devices (15%)        </a:t>
            </a:r>
            <a:r>
              <a:rPr lang="en-US" sz="1600">
                <a:latin typeface="Arial"/>
                <a:cs typeface="Arial"/>
              </a:rPr>
              <a:t>                                           </a:t>
            </a:r>
            <a:r>
              <a:rPr lang="en-US" sz="2000">
                <a:latin typeface="Arial"/>
                <a:cs typeface="Arial"/>
              </a:rPr>
              <a:t>Operating Systems (31%)</a:t>
            </a:r>
          </a:p>
          <a:p>
            <a:pPr lvl="1">
              <a:buFont typeface="Courier New"/>
              <a:buChar char="o"/>
            </a:pPr>
            <a:r>
              <a:rPr lang="en-US" sz="2000">
                <a:latin typeface="Arial"/>
                <a:cs typeface="Arial"/>
              </a:rPr>
              <a:t>Networking (20%)                                                         Security (25%)</a:t>
            </a:r>
            <a:endParaRPr lang="en-US">
              <a:latin typeface="Arial"/>
              <a:cs typeface="Arial"/>
            </a:endParaRPr>
          </a:p>
          <a:p>
            <a:pPr lvl="1">
              <a:buFont typeface="Courier New"/>
              <a:buChar char="o"/>
            </a:pPr>
            <a:r>
              <a:rPr lang="en-US" sz="2000">
                <a:latin typeface="Arial"/>
                <a:cs typeface="Arial"/>
              </a:rPr>
              <a:t>Hardware (25%)                                                           Software Troubleshooting (22%)</a:t>
            </a:r>
          </a:p>
          <a:p>
            <a:pPr lvl="1">
              <a:buFont typeface="Courier New"/>
              <a:buChar char="o"/>
            </a:pPr>
            <a:r>
              <a:rPr lang="en-US" sz="2000">
                <a:latin typeface="Arial"/>
                <a:cs typeface="Arial"/>
              </a:rPr>
              <a:t>Virtualization and Cloud Computing (11%)                   Operational Procedures (22%)</a:t>
            </a:r>
          </a:p>
          <a:p>
            <a:pPr lvl="1">
              <a:buFont typeface="Courier New"/>
              <a:buChar char="o"/>
            </a:pPr>
            <a:r>
              <a:rPr lang="en-US" sz="2000">
                <a:latin typeface="Arial"/>
                <a:cs typeface="Arial"/>
              </a:rPr>
              <a:t>Hardware and Network Troubleshooting (29%)</a:t>
            </a:r>
            <a:endParaRPr lang="en-US">
              <a:latin typeface="Arial"/>
              <a:cs typeface="Arial"/>
            </a:endParaRPr>
          </a:p>
          <a:p>
            <a:pPr>
              <a:spcBef>
                <a:spcPts val="750"/>
              </a:spcBef>
              <a:buFont typeface="Arial"/>
              <a:buChar char="•"/>
            </a:pPr>
            <a:endParaRPr lang="en-US" sz="2400">
              <a:latin typeface="Arial"/>
              <a:cs typeface="Arial"/>
            </a:endParaRPr>
          </a:p>
          <a:p>
            <a:pPr>
              <a:spcBef>
                <a:spcPts val="750"/>
              </a:spcBef>
              <a:buFont typeface="Arial"/>
              <a:buChar char="•"/>
            </a:pPr>
            <a:endParaRPr lang="en-US" sz="2400">
              <a:latin typeface="Arial"/>
              <a:cs typeface="Arial"/>
            </a:endParaRPr>
          </a:p>
          <a:p>
            <a:pPr marL="0" indent="0">
              <a:buNone/>
            </a:pPr>
            <a:endParaRPr lang="en-US">
              <a:latin typeface="Aptos" panose="02110004020202020204"/>
              <a:cs typeface="Arial"/>
            </a:endParaRPr>
          </a:p>
        </p:txBody>
      </p:sp>
      <p:pic>
        <p:nvPicPr>
          <p:cNvPr id="2052" name="Picture 4" descr="CompTIA - Continuing &amp; Professional Studies">
            <a:extLst>
              <a:ext uri="{FF2B5EF4-FFF2-40B4-BE49-F238E27FC236}">
                <a16:creationId xmlns:a16="http://schemas.microsoft.com/office/drawing/2014/main" id="{C02315CF-2A27-BA3A-B884-46185A76C8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9544" y="365125"/>
            <a:ext cx="2522148" cy="2099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9736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29F32E-A36D-BA58-8C6E-A5A6ECF4F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32DC0-79E3-1147-9620-9DDD3AC566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3054" y="668338"/>
            <a:ext cx="3138714" cy="775243"/>
          </a:xfrm>
        </p:spPr>
        <p:txBody>
          <a:bodyPr>
            <a:normAutofit/>
          </a:bodyPr>
          <a:lstStyle/>
          <a:p>
            <a:r>
              <a:rPr lang="en-US" sz="4400">
                <a:solidFill>
                  <a:srgbClr val="484137"/>
                </a:solidFill>
                <a:latin typeface="ADLaM Display"/>
                <a:ea typeface="ADLaM Display"/>
                <a:cs typeface="ADLaM Display"/>
              </a:rPr>
              <a:t>Network+</a:t>
            </a:r>
            <a:endParaRPr lang="en-US" sz="440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E3930501-438B-D025-06E1-CBA0EA25FC7C}"/>
              </a:ext>
            </a:extLst>
          </p:cNvPr>
          <p:cNvSpPr txBox="1">
            <a:spLocks/>
          </p:cNvSpPr>
          <p:nvPr/>
        </p:nvSpPr>
        <p:spPr>
          <a:xfrm>
            <a:off x="669254" y="1545788"/>
            <a:ext cx="10701479" cy="475394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750"/>
              </a:spcBef>
              <a:buFont typeface="Arial"/>
              <a:buChar char="•"/>
            </a:pPr>
            <a:r>
              <a:rPr lang="en-US">
                <a:latin typeface="Arial"/>
                <a:cs typeface="Arial"/>
              </a:rPr>
              <a:t> Only one exam to get certified</a:t>
            </a:r>
          </a:p>
          <a:p>
            <a:pPr algn="l">
              <a:spcBef>
                <a:spcPts val="750"/>
              </a:spcBef>
              <a:buFont typeface="Arial"/>
              <a:buChar char="•"/>
            </a:pPr>
            <a:r>
              <a:rPr lang="en-US" b="1">
                <a:latin typeface="Arial"/>
                <a:cs typeface="Arial"/>
              </a:rPr>
              <a:t> Duration</a:t>
            </a:r>
            <a:r>
              <a:rPr lang="en-US">
                <a:latin typeface="Arial"/>
                <a:cs typeface="Arial"/>
              </a:rPr>
              <a:t>: </a:t>
            </a:r>
            <a:r>
              <a:rPr lang="en-US" b="1">
                <a:latin typeface="Arial"/>
                <a:cs typeface="Arial"/>
              </a:rPr>
              <a:t>90 minutes</a:t>
            </a:r>
            <a:endParaRPr lang="en-US"/>
          </a:p>
          <a:p>
            <a:pPr algn="l">
              <a:spcBef>
                <a:spcPts val="750"/>
              </a:spcBef>
              <a:buFont typeface="Arial"/>
              <a:buChar char="•"/>
            </a:pPr>
            <a:r>
              <a:rPr lang="en-US" b="1">
                <a:latin typeface="Arial"/>
                <a:cs typeface="Arial"/>
              </a:rPr>
              <a:t> Exam format: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b="1">
                <a:latin typeface="Arial"/>
                <a:cs typeface="Arial"/>
              </a:rPr>
              <a:t>90 questions</a:t>
            </a:r>
            <a:endParaRPr lang="en-US">
              <a:latin typeface="Arial"/>
              <a:cs typeface="Arial"/>
            </a:endParaRPr>
          </a:p>
          <a:p>
            <a:pPr algn="l">
              <a:spcBef>
                <a:spcPts val="750"/>
              </a:spcBef>
              <a:buFont typeface="Arial"/>
              <a:buChar char="•"/>
            </a:pPr>
            <a:r>
              <a:rPr lang="en-US" b="1">
                <a:latin typeface="Arial"/>
                <a:cs typeface="Arial"/>
              </a:rPr>
              <a:t> Cost</a:t>
            </a:r>
            <a:r>
              <a:rPr lang="en-US">
                <a:latin typeface="Arial"/>
                <a:cs typeface="Arial"/>
              </a:rPr>
              <a:t>: </a:t>
            </a:r>
            <a:r>
              <a:rPr lang="en-US" b="1">
                <a:solidFill>
                  <a:srgbClr val="000000"/>
                </a:solidFill>
                <a:latin typeface="Arial"/>
                <a:cs typeface="Arial"/>
              </a:rPr>
              <a:t>390</a:t>
            </a:r>
            <a:r>
              <a:rPr lang="en-US" b="1">
                <a:latin typeface="Arial"/>
                <a:cs typeface="Arial"/>
              </a:rPr>
              <a:t>$</a:t>
            </a:r>
            <a:endParaRPr lang="en-US">
              <a:latin typeface="Arial"/>
              <a:cs typeface="Arial"/>
            </a:endParaRPr>
          </a:p>
          <a:p>
            <a:pPr algn="l">
              <a:spcBef>
                <a:spcPts val="750"/>
              </a:spcBef>
              <a:buFont typeface="Arial"/>
              <a:buChar char="•"/>
            </a:pPr>
            <a:r>
              <a:rPr lang="en-US">
                <a:latin typeface="Arial"/>
                <a:cs typeface="Arial"/>
              </a:rPr>
              <a:t> 720 out of 900 to pass</a:t>
            </a:r>
          </a:p>
          <a:p>
            <a:pPr algn="l">
              <a:spcBef>
                <a:spcPts val="750"/>
              </a:spcBef>
              <a:buFont typeface="Arial"/>
              <a:buChar char="•"/>
            </a:pPr>
            <a:r>
              <a:rPr lang="en-US">
                <a:latin typeface="Arial"/>
                <a:cs typeface="Arial"/>
              </a:rPr>
              <a:t> Exam Objectives</a:t>
            </a:r>
          </a:p>
          <a:p>
            <a:pPr lvl="1" algn="l">
              <a:spcBef>
                <a:spcPts val="750"/>
              </a:spcBef>
              <a:buFont typeface="Courier New"/>
              <a:buChar char="o"/>
            </a:pPr>
            <a:r>
              <a:rPr lang="en-US">
                <a:latin typeface="Arial"/>
                <a:cs typeface="Arial"/>
              </a:rPr>
              <a:t> Networking Concepts (23%)</a:t>
            </a:r>
          </a:p>
          <a:p>
            <a:pPr lvl="1" algn="l">
              <a:buFont typeface="Courier New"/>
              <a:buChar char="o"/>
            </a:pPr>
            <a:r>
              <a:rPr lang="en-US">
                <a:latin typeface="Arial"/>
                <a:cs typeface="Arial"/>
              </a:rPr>
              <a:t> Network implementation (20%)</a:t>
            </a:r>
          </a:p>
          <a:p>
            <a:pPr lvl="1" algn="l">
              <a:buFont typeface="Courier New"/>
              <a:buChar char="o"/>
            </a:pPr>
            <a:r>
              <a:rPr lang="en-US">
                <a:latin typeface="Arial"/>
                <a:cs typeface="Arial"/>
              </a:rPr>
              <a:t> Network Operations (19%)</a:t>
            </a:r>
          </a:p>
          <a:p>
            <a:pPr lvl="1" algn="l">
              <a:buFont typeface="Courier New"/>
              <a:buChar char="o"/>
            </a:pPr>
            <a:r>
              <a:rPr lang="en-US">
                <a:latin typeface="Arial"/>
                <a:cs typeface="Arial"/>
              </a:rPr>
              <a:t> Network Security (14%)</a:t>
            </a:r>
          </a:p>
          <a:p>
            <a:pPr lvl="1" algn="l">
              <a:buFont typeface="Courier New"/>
              <a:buChar char="o"/>
            </a:pPr>
            <a:r>
              <a:rPr lang="en-US">
                <a:latin typeface="Arial"/>
                <a:cs typeface="Arial"/>
              </a:rPr>
              <a:t> Network Troubleshooting (24%)</a:t>
            </a:r>
          </a:p>
          <a:p>
            <a:pPr algn="l">
              <a:spcBef>
                <a:spcPts val="750"/>
              </a:spcBef>
              <a:buFont typeface="Arial"/>
              <a:buChar char="•"/>
            </a:pPr>
            <a:endParaRPr lang="en-US">
              <a:latin typeface="Arial"/>
              <a:cs typeface="Arial"/>
            </a:endParaRPr>
          </a:p>
          <a:p>
            <a:pPr algn="l">
              <a:spcBef>
                <a:spcPts val="750"/>
              </a:spcBef>
              <a:buFont typeface="Arial"/>
              <a:buChar char="•"/>
            </a:pPr>
            <a:endParaRPr lang="en-US">
              <a:latin typeface="Arial"/>
              <a:cs typeface="Arial"/>
            </a:endParaRPr>
          </a:p>
          <a:p>
            <a:pPr algn="l"/>
            <a:endParaRPr lang="en-US">
              <a:latin typeface="Aptos" panose="02110004020202020204"/>
              <a:cs typeface="Arial"/>
            </a:endParaRPr>
          </a:p>
        </p:txBody>
      </p:sp>
      <p:pic>
        <p:nvPicPr>
          <p:cNvPr id="1028" name="Picture 4" descr="CompTIA Network+ On-Demand Course">
            <a:extLst>
              <a:ext uri="{FF2B5EF4-FFF2-40B4-BE49-F238E27FC236}">
                <a16:creationId xmlns:a16="http://schemas.microsoft.com/office/drawing/2014/main" id="{E0BF01BD-F99A-96BA-C3E7-7D59F1E041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2299" y="132080"/>
            <a:ext cx="2476182" cy="2476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4958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C98C5D-99EC-DD5B-4B44-E31FF1915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7C817-5D5A-3F7C-D2AB-90D3797402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3054" y="668338"/>
            <a:ext cx="3138714" cy="775243"/>
          </a:xfrm>
        </p:spPr>
        <p:txBody>
          <a:bodyPr>
            <a:normAutofit/>
          </a:bodyPr>
          <a:lstStyle/>
          <a:p>
            <a:r>
              <a:rPr lang="en-US" sz="4400">
                <a:solidFill>
                  <a:srgbClr val="484137"/>
                </a:solidFill>
                <a:latin typeface="ADLaM Display"/>
                <a:ea typeface="ADLaM Display"/>
                <a:cs typeface="ADLaM Display"/>
              </a:rPr>
              <a:t>Security+</a:t>
            </a:r>
            <a:endParaRPr lang="en-US" sz="440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AD57E9BB-1CEA-39D0-FCF5-CAE22BDE3E2D}"/>
              </a:ext>
            </a:extLst>
          </p:cNvPr>
          <p:cNvSpPr txBox="1">
            <a:spLocks/>
          </p:cNvSpPr>
          <p:nvPr/>
        </p:nvSpPr>
        <p:spPr>
          <a:xfrm>
            <a:off x="669254" y="1545788"/>
            <a:ext cx="10701479" cy="475394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Only one exam to get certified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Duration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: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90 minutes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Exam format: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90 questions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Cost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: </a:t>
            </a:r>
            <a:r>
              <a:rPr lang="en-US" b="1">
                <a:solidFill>
                  <a:srgbClr val="000000"/>
                </a:solidFill>
                <a:latin typeface="Arial"/>
                <a:cs typeface="Arial"/>
              </a:rPr>
              <a:t>425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$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750 out of 900 to pass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Exam Objectives</a:t>
            </a:r>
          </a:p>
          <a:p>
            <a:pPr marL="457200" marR="0" lvl="1" indent="0" algn="l" defTabSz="9144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Courier New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General Security Concepts (12%)</a:t>
            </a:r>
          </a:p>
          <a:p>
            <a:pPr marL="45720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Threats, vulnerabilities, and mitigations (22%)</a:t>
            </a:r>
          </a:p>
          <a:p>
            <a:pPr marL="45720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Security Architecture (18%)</a:t>
            </a:r>
          </a:p>
          <a:p>
            <a:pPr marL="45720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Security Operations (28%)</a:t>
            </a:r>
          </a:p>
          <a:p>
            <a:pPr marL="45720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Security program management and oversight(20%)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</a:endParaRPr>
          </a:p>
        </p:txBody>
      </p:sp>
      <p:pic>
        <p:nvPicPr>
          <p:cNvPr id="3074" name="Picture 2" descr="CompTIA Security+ On-Demand Course">
            <a:extLst>
              <a:ext uri="{FF2B5EF4-FFF2-40B4-BE49-F238E27FC236}">
                <a16:creationId xmlns:a16="http://schemas.microsoft.com/office/drawing/2014/main" id="{DF8209FB-12D8-8265-BF1D-6895C7C129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3034" y="65631"/>
            <a:ext cx="2569634" cy="2569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46293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A17A57-DB1B-CB8B-79ED-4384C5155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23A64-2161-9AC6-F9AB-19651834F8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5553" y="228600"/>
            <a:ext cx="9144000" cy="1316580"/>
          </a:xfrm>
        </p:spPr>
        <p:txBody>
          <a:bodyPr>
            <a:normAutofit/>
          </a:bodyPr>
          <a:lstStyle/>
          <a:p>
            <a:r>
              <a:rPr lang="en-US" sz="4400">
                <a:solidFill>
                  <a:srgbClr val="484137"/>
                </a:solidFill>
                <a:latin typeface="ADLaM Display"/>
                <a:ea typeface="ADLaM Display"/>
                <a:cs typeface="ADLaM Display"/>
              </a:rPr>
              <a:t>How to study for CompTIA Certifications</a:t>
            </a:r>
            <a:endParaRPr lang="en-US" sz="4400"/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6AB5DB8D-CBBC-18B7-E4F4-8329C1A88CB3}"/>
              </a:ext>
            </a:extLst>
          </p:cNvPr>
          <p:cNvSpPr txBox="1">
            <a:spLocks/>
          </p:cNvSpPr>
          <p:nvPr/>
        </p:nvSpPr>
        <p:spPr>
          <a:xfrm>
            <a:off x="679753" y="1732022"/>
            <a:ext cx="10515600" cy="5210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>
                <a:solidFill>
                  <a:srgbClr val="484137"/>
                </a:solidFill>
              </a:rPr>
              <a:t>Free options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3200">
                <a:solidFill>
                  <a:srgbClr val="484137"/>
                </a:solidFill>
              </a:rPr>
              <a:t>Professor </a:t>
            </a:r>
            <a:r>
              <a:rPr lang="en-US" sz="3200" err="1">
                <a:solidFill>
                  <a:srgbClr val="484137"/>
                </a:solidFill>
              </a:rPr>
              <a:t>messer</a:t>
            </a:r>
            <a:endParaRPr lang="en-US" sz="3200">
              <a:solidFill>
                <a:srgbClr val="484137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3200">
                <a:solidFill>
                  <a:srgbClr val="484137"/>
                </a:solidFill>
              </a:rPr>
              <a:t>ChatGPT</a:t>
            </a:r>
          </a:p>
          <a:p>
            <a:pPr algn="l"/>
            <a:r>
              <a:rPr lang="en-US" sz="3200" err="1">
                <a:solidFill>
                  <a:srgbClr val="484137"/>
                </a:solidFill>
              </a:rPr>
              <a:t>Payed</a:t>
            </a:r>
            <a:r>
              <a:rPr lang="en-US" sz="3200">
                <a:solidFill>
                  <a:srgbClr val="484137"/>
                </a:solidFill>
              </a:rPr>
              <a:t> Options $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3200" err="1">
                <a:solidFill>
                  <a:srgbClr val="484137"/>
                </a:solidFill>
              </a:rPr>
              <a:t>DionTraining</a:t>
            </a:r>
            <a:endParaRPr lang="en-US" sz="3200">
              <a:solidFill>
                <a:srgbClr val="484137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3200">
                <a:solidFill>
                  <a:srgbClr val="484137"/>
                </a:solidFill>
              </a:rPr>
              <a:t>Udemy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3200" err="1">
                <a:solidFill>
                  <a:srgbClr val="484137"/>
                </a:solidFill>
              </a:rPr>
              <a:t>Testout</a:t>
            </a:r>
            <a:r>
              <a:rPr lang="en-US" sz="3200">
                <a:solidFill>
                  <a:srgbClr val="484137"/>
                </a:solidFill>
              </a:rPr>
              <a:t> </a:t>
            </a:r>
            <a:r>
              <a:rPr lang="en-US" sz="3200" err="1">
                <a:solidFill>
                  <a:srgbClr val="484137"/>
                </a:solidFill>
              </a:rPr>
              <a:t>Labsim</a:t>
            </a:r>
            <a:endParaRPr lang="en-US" sz="3200">
              <a:solidFill>
                <a:srgbClr val="484137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>
              <a:solidFill>
                <a:srgbClr val="484137"/>
              </a:solidFill>
            </a:endParaRPr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5143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DA8674B-FE5F-73A0-7117-FA9384096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28667"/>
            <a:ext cx="12192000" cy="29197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C194A6-A96F-3185-EEC6-22035412C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899334"/>
            <a:ext cx="9306560" cy="2922040"/>
          </a:xfrm>
          <a:prstGeom prst="rect">
            <a:avLst/>
          </a:prstGeom>
        </p:spPr>
      </p:pic>
      <p:pic>
        <p:nvPicPr>
          <p:cNvPr id="1026" name="Picture 2" descr="ReliaQuest | Google Cloud">
            <a:extLst>
              <a:ext uri="{FF2B5EF4-FFF2-40B4-BE49-F238E27FC236}">
                <a16:creationId xmlns:a16="http://schemas.microsoft.com/office/drawing/2014/main" id="{61C71015-32DA-18E0-BA68-0E8BB675D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560" y="9565"/>
            <a:ext cx="3952240" cy="88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584C7738-DA0E-3BC4-780D-EE6E41DB5217}"/>
                  </a:ext>
                </a:extLst>
              </p14:cNvPr>
              <p14:cNvContentPartPr/>
              <p14:nvPr/>
            </p14:nvContentPartPr>
            <p14:xfrm>
              <a:off x="4233467" y="566720"/>
              <a:ext cx="1009440" cy="92268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584C7738-DA0E-3BC4-780D-EE6E41DB521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70467" y="503720"/>
                <a:ext cx="1135080" cy="10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EBA0D3BB-F781-4D49-1F0A-9D9707FA4CB2}"/>
                  </a:ext>
                </a:extLst>
              </p14:cNvPr>
              <p14:cNvContentPartPr/>
              <p14:nvPr/>
            </p14:nvContentPartPr>
            <p14:xfrm>
              <a:off x="4817387" y="1134440"/>
              <a:ext cx="686160" cy="4914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EBA0D3BB-F781-4D49-1F0A-9D9707FA4CB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754387" y="1071440"/>
                <a:ext cx="811800" cy="61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B425B89E-0A10-8B03-D559-0895FE5BFC07}"/>
                  </a:ext>
                </a:extLst>
              </p14:cNvPr>
              <p14:cNvContentPartPr/>
              <p14:nvPr/>
            </p14:nvContentPartPr>
            <p14:xfrm>
              <a:off x="4835747" y="1167560"/>
              <a:ext cx="176760" cy="48348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B425B89E-0A10-8B03-D559-0895FE5BFC0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772747" y="1104560"/>
                <a:ext cx="302400" cy="60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25D7C8F3-CFE3-BF73-5809-F18034312E1F}"/>
                  </a:ext>
                </a:extLst>
              </p14:cNvPr>
              <p14:cNvContentPartPr/>
              <p14:nvPr/>
            </p14:nvContentPartPr>
            <p14:xfrm>
              <a:off x="4275587" y="694160"/>
              <a:ext cx="360" cy="3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25D7C8F3-CFE3-BF73-5809-F18034312E1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212587" y="631160"/>
                <a:ext cx="126000" cy="126000"/>
              </a:xfrm>
              <a:prstGeom prst="rect">
                <a:avLst/>
              </a:prstGeom>
            </p:spPr>
          </p:pic>
        </mc:Fallback>
      </mc:AlternateContent>
      <p:pic>
        <p:nvPicPr>
          <p:cNvPr id="54" name="Picture 53">
            <a:extLst>
              <a:ext uri="{FF2B5EF4-FFF2-40B4-BE49-F238E27FC236}">
                <a16:creationId xmlns:a16="http://schemas.microsoft.com/office/drawing/2014/main" id="{E495F7E3-3FD2-7872-0A73-552F4ABB701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90267" y="3427496"/>
            <a:ext cx="3539067" cy="119738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6C80DC58-2761-5721-F894-03C5FC06B01C}"/>
                  </a:ext>
                </a:extLst>
              </p14:cNvPr>
              <p14:cNvContentPartPr/>
              <p14:nvPr/>
            </p14:nvContentPartPr>
            <p14:xfrm>
              <a:off x="5730347" y="3529160"/>
              <a:ext cx="933120" cy="87264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6C80DC58-2761-5721-F894-03C5FC06B01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667347" y="3466160"/>
                <a:ext cx="1058760" cy="9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3D8A4ED5-C15E-1512-9D4A-3AE17F3048C5}"/>
                  </a:ext>
                </a:extLst>
              </p14:cNvPr>
              <p14:cNvContentPartPr/>
              <p14:nvPr/>
            </p14:nvContentPartPr>
            <p14:xfrm>
              <a:off x="5368547" y="4084640"/>
              <a:ext cx="760320" cy="41292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3D8A4ED5-C15E-1512-9D4A-3AE17F3048C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305547" y="4021640"/>
                <a:ext cx="885960" cy="538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965903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E0AD2A-9823-9A15-2502-A7CA56199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5589C-5B70-607A-6234-B0C1D0975C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43115"/>
            <a:ext cx="9144000" cy="2387600"/>
          </a:xfrm>
        </p:spPr>
        <p:txBody>
          <a:bodyPr/>
          <a:lstStyle/>
          <a:p>
            <a:r>
              <a:rPr lang="en-US">
                <a:solidFill>
                  <a:srgbClr val="484137"/>
                </a:solidFill>
                <a:latin typeface="ADLaM Display"/>
                <a:ea typeface="ADLaM Display"/>
                <a:cs typeface="ADLaM Display"/>
              </a:rPr>
              <a:t>Cloud Computing Certifications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4891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1A5B81-75BC-5C8D-9F07-D4C6B8E21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136C3-016B-B1BF-D760-F6C2E307E2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7133"/>
            <a:ext cx="9144000" cy="1824582"/>
          </a:xfrm>
        </p:spPr>
        <p:txBody>
          <a:bodyPr/>
          <a:lstStyle/>
          <a:p>
            <a:r>
              <a:rPr lang="en-US">
                <a:solidFill>
                  <a:srgbClr val="484137"/>
                </a:solidFill>
                <a:latin typeface="ADLaM Display"/>
                <a:ea typeface="ADLaM Display"/>
                <a:cs typeface="ADLaM Display"/>
              </a:rPr>
              <a:t>Why should you get AWS Certifications?</a:t>
            </a:r>
            <a:endParaRPr lang="en-US"/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95952CAC-BF22-4A3A-133F-985DC6736208}"/>
              </a:ext>
            </a:extLst>
          </p:cNvPr>
          <p:cNvSpPr txBox="1">
            <a:spLocks/>
          </p:cNvSpPr>
          <p:nvPr/>
        </p:nvSpPr>
        <p:spPr>
          <a:xfrm>
            <a:off x="838199" y="3429000"/>
            <a:ext cx="10829925" cy="18489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/>
              <a:t>Validates that you can design, build, and secure systems on the world’s most widely used cloud platform.</a:t>
            </a:r>
          </a:p>
          <a:p>
            <a:pPr marL="342900" indent="-342900" algn="l"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>
                <a:ea typeface="+mn-lt"/>
                <a:cs typeface="+mn-lt"/>
              </a:rPr>
              <a:t>Makes you competitive cloud engineer and cloud security specialist roles</a:t>
            </a:r>
          </a:p>
          <a:p>
            <a:pPr marL="342900" indent="-342900" algn="l"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>
                <a:ea typeface="+mn-lt"/>
                <a:cs typeface="+mn-lt"/>
              </a:rPr>
              <a:t>Gives you hands on skills that directly translate into the field</a:t>
            </a:r>
          </a:p>
        </p:txBody>
      </p:sp>
    </p:spTree>
    <p:extLst>
      <p:ext uri="{BB962C8B-B14F-4D97-AF65-F5344CB8AC3E}">
        <p14:creationId xmlns:p14="http://schemas.microsoft.com/office/powerpoint/2010/main" val="35312976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270FC-0843-092B-A0FD-8FDE0A94D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484137"/>
                </a:solidFill>
                <a:latin typeface="ADLaM Display"/>
                <a:ea typeface="ADLaM Display"/>
                <a:cs typeface="ADLaM Display"/>
              </a:rPr>
              <a:t>AWS Cloud Practitioner Exam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D7F5B4-C44E-1FDF-6CD9-3D2053A7B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3429000"/>
            <a:ext cx="10829925" cy="184890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spcBef>
                <a:spcPts val="750"/>
              </a:spcBef>
              <a:buNone/>
            </a:pPr>
            <a:r>
              <a:rPr lang="en-US" sz="2400">
                <a:latin typeface="Aptos"/>
                <a:cs typeface="Arial"/>
              </a:rPr>
              <a:t>• Domain</a:t>
            </a:r>
            <a:r>
              <a:rPr lang="en-US" sz="2400">
                <a:ea typeface="+mn-lt"/>
                <a:cs typeface="+mn-lt"/>
              </a:rPr>
              <a:t> 1: Cloud Concepts (24% of scored content) </a:t>
            </a:r>
            <a:endParaRPr lang="en-US">
              <a:ea typeface="+mn-lt"/>
              <a:cs typeface="+mn-lt"/>
            </a:endParaRPr>
          </a:p>
          <a:p>
            <a:pPr marL="0" indent="0">
              <a:spcBef>
                <a:spcPts val="750"/>
              </a:spcBef>
              <a:buNone/>
            </a:pPr>
            <a:r>
              <a:rPr lang="en-US" sz="2400">
                <a:ea typeface="+mn-lt"/>
                <a:cs typeface="+mn-lt"/>
              </a:rPr>
              <a:t>• Domain 2: Security and Compliance (30% of scored content) </a:t>
            </a:r>
            <a:endParaRPr lang="en-US">
              <a:ea typeface="+mn-lt"/>
              <a:cs typeface="+mn-lt"/>
            </a:endParaRPr>
          </a:p>
          <a:p>
            <a:pPr marL="0" indent="0">
              <a:spcBef>
                <a:spcPts val="750"/>
              </a:spcBef>
              <a:buNone/>
            </a:pPr>
            <a:r>
              <a:rPr lang="en-US" sz="2400">
                <a:ea typeface="+mn-lt"/>
                <a:cs typeface="+mn-lt"/>
              </a:rPr>
              <a:t>• Domain 3: Cloud Technology and Services (34% of scored content) </a:t>
            </a:r>
            <a:endParaRPr lang="en-US">
              <a:ea typeface="+mn-lt"/>
              <a:cs typeface="+mn-lt"/>
            </a:endParaRPr>
          </a:p>
          <a:p>
            <a:pPr marL="0" indent="0">
              <a:spcBef>
                <a:spcPts val="750"/>
              </a:spcBef>
              <a:buNone/>
            </a:pPr>
            <a:r>
              <a:rPr lang="en-US" sz="2400">
                <a:ea typeface="+mn-lt"/>
                <a:cs typeface="+mn-lt"/>
              </a:rPr>
              <a:t>• Domain 4: Billing, Pricing, and Support (12% of scored content)</a:t>
            </a:r>
            <a:endParaRPr lang="en-US"/>
          </a:p>
          <a:p>
            <a:pPr marL="0" indent="0">
              <a:buNone/>
            </a:pPr>
            <a:endParaRPr lang="en-US">
              <a:latin typeface="Aptos" panose="02110004020202020204"/>
              <a:cs typeface="Arial"/>
            </a:endParaRPr>
          </a:p>
        </p:txBody>
      </p:sp>
      <p:pic>
        <p:nvPicPr>
          <p:cNvPr id="1028" name="Picture 4" descr="AWS Certified Cloud Practitioner - Credly">
            <a:extLst>
              <a:ext uri="{FF2B5EF4-FFF2-40B4-BE49-F238E27FC236}">
                <a16:creationId xmlns:a16="http://schemas.microsoft.com/office/drawing/2014/main" id="{41622FF7-1BE1-641E-1119-4D3FE30368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2100" y="224155"/>
            <a:ext cx="2933065" cy="2933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04960734-8001-E5E9-0B31-A8CC908CA4C6}"/>
              </a:ext>
            </a:extLst>
          </p:cNvPr>
          <p:cNvSpPr txBox="1">
            <a:spLocks/>
          </p:cNvSpPr>
          <p:nvPr/>
        </p:nvSpPr>
        <p:spPr>
          <a:xfrm>
            <a:off x="838199" y="1580092"/>
            <a:ext cx="10829925" cy="13736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750"/>
              </a:spcBef>
              <a:buFont typeface="Arial" panose="020B0604020202020204" pitchFamily="34" charset="0"/>
              <a:buNone/>
            </a:pPr>
            <a:r>
              <a:rPr lang="en-US" sz="2400">
                <a:latin typeface="Aptos"/>
                <a:cs typeface="Arial"/>
              </a:rPr>
              <a:t>• Exam is 90 minutes long</a:t>
            </a:r>
            <a:endParaRPr lang="en-US">
              <a:ea typeface="+mn-lt"/>
              <a:cs typeface="+mn-lt"/>
            </a:endParaRPr>
          </a:p>
          <a:p>
            <a:pPr marL="0" indent="0">
              <a:spcBef>
                <a:spcPts val="750"/>
              </a:spcBef>
              <a:buFont typeface="Arial" panose="020B0604020202020204" pitchFamily="34" charset="0"/>
              <a:buNone/>
            </a:pPr>
            <a:r>
              <a:rPr lang="en-US" sz="2400">
                <a:ea typeface="+mn-lt"/>
                <a:cs typeface="+mn-lt"/>
              </a:rPr>
              <a:t>• consists of 65 questions</a:t>
            </a:r>
            <a:endParaRPr lang="en-US">
              <a:ea typeface="+mn-lt"/>
              <a:cs typeface="+mn-lt"/>
            </a:endParaRPr>
          </a:p>
          <a:p>
            <a:pPr marL="0" indent="0">
              <a:spcBef>
                <a:spcPts val="750"/>
              </a:spcBef>
              <a:buFont typeface="Arial" panose="020B0604020202020204" pitchFamily="34" charset="0"/>
              <a:buNone/>
            </a:pPr>
            <a:r>
              <a:rPr lang="en-US" sz="2400">
                <a:ea typeface="+mn-lt"/>
                <a:cs typeface="+mn-lt"/>
              </a:rPr>
              <a:t>• 700 out of 1000</a:t>
            </a:r>
            <a:r>
              <a:rPr lang="en-US" sz="2400">
                <a:latin typeface="Aptos" panose="02110004020202020204"/>
                <a:ea typeface="+mn-lt"/>
                <a:cs typeface="Arial"/>
              </a:rPr>
              <a:t> to pass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4015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A34980-DB17-55B9-9A17-B0BD73393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5FDDF-227F-A7C4-9151-F105C2609C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5553" y="228600"/>
            <a:ext cx="9144000" cy="1316580"/>
          </a:xfrm>
        </p:spPr>
        <p:txBody>
          <a:bodyPr>
            <a:normAutofit/>
          </a:bodyPr>
          <a:lstStyle/>
          <a:p>
            <a:r>
              <a:rPr lang="en-US" sz="4400">
                <a:solidFill>
                  <a:srgbClr val="484137"/>
                </a:solidFill>
                <a:latin typeface="ADLaM Display"/>
                <a:ea typeface="ADLaM Display"/>
                <a:cs typeface="ADLaM Display"/>
              </a:rPr>
              <a:t>How to study for AWS Certifications</a:t>
            </a:r>
            <a:endParaRPr lang="en-US" sz="4400"/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F53177B9-89BF-5B81-8D9A-10469F58F79A}"/>
              </a:ext>
            </a:extLst>
          </p:cNvPr>
          <p:cNvSpPr txBox="1">
            <a:spLocks/>
          </p:cNvSpPr>
          <p:nvPr/>
        </p:nvSpPr>
        <p:spPr>
          <a:xfrm>
            <a:off x="679753" y="1926757"/>
            <a:ext cx="10515600" cy="26621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Arial" panose="020B0604020202020204" pitchFamily="34" charset="0"/>
              <a:buChar char="•"/>
              <a:defRPr/>
            </a:pPr>
            <a:r>
              <a:rPr lang="en-US" sz="3200">
                <a:solidFill>
                  <a:srgbClr val="484137"/>
                </a:solidFill>
              </a:rPr>
              <a:t>Stephane </a:t>
            </a:r>
            <a:r>
              <a:rPr lang="en-US" sz="3200" err="1">
                <a:solidFill>
                  <a:srgbClr val="484137"/>
                </a:solidFill>
              </a:rPr>
              <a:t>Mareek</a:t>
            </a:r>
            <a:r>
              <a:rPr lang="en-US" sz="3200">
                <a:solidFill>
                  <a:srgbClr val="484137"/>
                </a:solidFill>
              </a:rPr>
              <a:t> on Udemy has a great course for the AWS certification</a:t>
            </a:r>
          </a:p>
          <a:p>
            <a:pPr marL="457200" indent="-457200" algn="l">
              <a:buFont typeface="Arial" panose="020B0604020202020204" pitchFamily="34" charset="0"/>
              <a:buChar char="•"/>
              <a:defRPr/>
            </a:pPr>
            <a:r>
              <a:rPr lang="en-US" sz="3200">
                <a:solidFill>
                  <a:srgbClr val="484137"/>
                </a:solidFill>
              </a:rPr>
              <a:t>Practice exams</a:t>
            </a:r>
          </a:p>
          <a:p>
            <a:pPr marL="457200" indent="-457200" algn="l">
              <a:buFont typeface="Arial" panose="020B0604020202020204" pitchFamily="34" charset="0"/>
              <a:buChar char="•"/>
              <a:defRPr/>
            </a:pPr>
            <a:r>
              <a:rPr lang="en-US" sz="3200" err="1">
                <a:solidFill>
                  <a:srgbClr val="484137"/>
                </a:solidFill>
              </a:rPr>
              <a:t>Chatgpt</a:t>
            </a:r>
            <a:endParaRPr lang="en-US" sz="3200">
              <a:solidFill>
                <a:srgbClr val="484137"/>
              </a:solidFill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3200">
              <a:solidFill>
                <a:srgbClr val="484137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5933892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270FC-0843-092B-A0FD-8FDE0A94D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484137"/>
                </a:solidFill>
                <a:latin typeface="ADLaM Display"/>
                <a:ea typeface="ADLaM Display"/>
                <a:cs typeface="ADLaM Display"/>
              </a:rPr>
              <a:t>Other AWS Exams</a:t>
            </a:r>
            <a:endParaRPr lang="en-US"/>
          </a:p>
        </p:txBody>
      </p:sp>
      <p:pic>
        <p:nvPicPr>
          <p:cNvPr id="4" name="Content Placeholder 4" descr="A cartoon of a cat with a computer chip&#10;&#10;Description automatically generated">
            <a:extLst>
              <a:ext uri="{FF2B5EF4-FFF2-40B4-BE49-F238E27FC236}">
                <a16:creationId xmlns:a16="http://schemas.microsoft.com/office/drawing/2014/main" id="{A7E17557-3314-E1C8-FA10-74D0B193FF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83" b="89987" l="7218" r="96653">
                        <a14:foregroundMark x1="10251" y1="79324" x2="10565" y2="70611"/>
                        <a14:foregroundMark x1="7322" y1="68270" x2="7845" y2="71131"/>
                        <a14:foregroundMark x1="20607" y1="89337" x2="20397" y2="88036"/>
                        <a14:foregroundMark x1="23431" y1="89597" x2="35042" y2="89987"/>
                        <a14:foregroundMark x1="91004" y1="49805" x2="96653" y2="40182"/>
                        <a14:foregroundMark x1="7322" y1="71131" x2="8368" y2="58648"/>
                        <a14:backgroundMark x1="9310" y1="52926" x2="4393" y2="602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2497" y="365125"/>
            <a:ext cx="1647904" cy="1325563"/>
          </a:xfrm>
          <a:prstGeom prst="rect">
            <a:avLst/>
          </a:prstGeom>
        </p:spPr>
      </p:pic>
      <p:pic>
        <p:nvPicPr>
          <p:cNvPr id="7" name="Content Placeholder 6" descr="The Easiest Way To Get AWS Certified (And Why You Should Care) | by Valerie  | Dare To Be Better | Medium">
            <a:extLst>
              <a:ext uri="{FF2B5EF4-FFF2-40B4-BE49-F238E27FC236}">
                <a16:creationId xmlns:a16="http://schemas.microsoft.com/office/drawing/2014/main" id="{2ED9C891-47DF-52AF-B9C9-E7C5B01856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987221" y="1703973"/>
            <a:ext cx="8217558" cy="4652153"/>
          </a:xfrm>
        </p:spPr>
      </p:pic>
    </p:spTree>
    <p:extLst>
      <p:ext uri="{BB962C8B-B14F-4D97-AF65-F5344CB8AC3E}">
        <p14:creationId xmlns:p14="http://schemas.microsoft.com/office/powerpoint/2010/main" val="9243256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CFF483-8776-46A4-048A-CD1A35287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81AB5-FEF5-532D-426B-35A572AA51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7133"/>
            <a:ext cx="9144000" cy="1824582"/>
          </a:xfrm>
        </p:spPr>
        <p:txBody>
          <a:bodyPr>
            <a:normAutofit/>
          </a:bodyPr>
          <a:lstStyle/>
          <a:p>
            <a:r>
              <a:rPr lang="en-US" sz="4800">
                <a:solidFill>
                  <a:srgbClr val="484137"/>
                </a:solidFill>
                <a:latin typeface="ADLaM Display"/>
                <a:ea typeface="ADLaM Display"/>
                <a:cs typeface="ADLaM Display"/>
              </a:rPr>
              <a:t>Why should you get Microsoft Azure Certifications?</a:t>
            </a:r>
            <a:endParaRPr lang="en-US" sz="4800"/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06758A83-705C-CD23-E891-7A5258C7B113}"/>
              </a:ext>
            </a:extLst>
          </p:cNvPr>
          <p:cNvSpPr txBox="1">
            <a:spLocks/>
          </p:cNvSpPr>
          <p:nvPr/>
        </p:nvSpPr>
        <p:spPr>
          <a:xfrm>
            <a:off x="838199" y="3429000"/>
            <a:ext cx="10829925" cy="2057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l">
              <a:spcBef>
                <a:spcPts val="750"/>
              </a:spcBef>
              <a:buFont typeface="Arial" panose="020B0604020202020204" pitchFamily="34" charset="0"/>
              <a:buChar char="•"/>
              <a:defRPr/>
            </a:pPr>
            <a:r>
              <a:rPr lang="en-US"/>
              <a:t>Shows employers you can manage and deploy cloud solutions using one of the fastest-growing cloud platforms.</a:t>
            </a:r>
          </a:p>
          <a:p>
            <a:pPr marL="342900" lvl="0" indent="-342900" algn="l">
              <a:spcBef>
                <a:spcPts val="750"/>
              </a:spcBef>
              <a:buFont typeface="Arial" panose="020B0604020202020204" pitchFamily="34" charset="0"/>
              <a:buChar char="•"/>
              <a:defRPr/>
            </a:pPr>
            <a:r>
              <a:rPr lang="en-US"/>
              <a:t>Helps you stand out for roles in cloud engineering and security.</a:t>
            </a:r>
          </a:p>
          <a:p>
            <a:pPr marL="342900" lvl="0" indent="-342900" algn="l">
              <a:spcBef>
                <a:spcPts val="750"/>
              </a:spcBef>
              <a:buFont typeface="Arial" panose="020B0604020202020204" pitchFamily="34" charset="0"/>
              <a:buChar char="•"/>
              <a:defRPr/>
            </a:pPr>
            <a:r>
              <a:rPr lang="en-US"/>
              <a:t>Increases your earning potential and opens doors to Microsoft-based enterprise environments.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638589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270FC-0843-092B-A0FD-8FDE0A94D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9125"/>
            <a:ext cx="10715625" cy="1335088"/>
          </a:xfrm>
        </p:spPr>
        <p:txBody>
          <a:bodyPr/>
          <a:lstStyle/>
          <a:p>
            <a:r>
              <a:rPr lang="en-US">
                <a:solidFill>
                  <a:srgbClr val="484137"/>
                </a:solidFill>
                <a:latin typeface="ADLaM Display"/>
                <a:ea typeface="ADLaM Display"/>
                <a:cs typeface="ADLaM Display"/>
              </a:rPr>
              <a:t>Microsoft Certified: Azure Fundamentals (AZ-900)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D7F5B4-C44E-1FDF-6CD9-3D2053A7B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77490"/>
            <a:ext cx="10829925" cy="45418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ts val="750"/>
              </a:spcBef>
              <a:buFont typeface="Arial"/>
              <a:buChar char="•"/>
            </a:pPr>
            <a:r>
              <a:rPr lang="en-US" sz="2400">
                <a:latin typeface="Arial"/>
                <a:ea typeface="+mn-lt"/>
                <a:cs typeface="+mn-lt"/>
              </a:rPr>
              <a:t>Describe cloud concepts (25–30%) </a:t>
            </a:r>
            <a:endParaRPr lang="en-US" sz="2400">
              <a:latin typeface="Arial"/>
              <a:ea typeface="+mn-lt"/>
              <a:cs typeface="Arial"/>
            </a:endParaRPr>
          </a:p>
          <a:p>
            <a:pPr>
              <a:spcBef>
                <a:spcPts val="750"/>
              </a:spcBef>
              <a:buFont typeface="Arial"/>
              <a:buChar char="•"/>
            </a:pPr>
            <a:r>
              <a:rPr lang="en-US" sz="2400">
                <a:latin typeface="Arial"/>
                <a:ea typeface="+mn-lt"/>
                <a:cs typeface="+mn-lt"/>
              </a:rPr>
              <a:t>Describe Azure architecture and services (35–40%) </a:t>
            </a:r>
            <a:endParaRPr lang="en-US" sz="2400">
              <a:latin typeface="Arial"/>
              <a:ea typeface="+mn-lt"/>
              <a:cs typeface="Arial"/>
            </a:endParaRPr>
          </a:p>
          <a:p>
            <a:pPr>
              <a:spcBef>
                <a:spcPts val="750"/>
              </a:spcBef>
              <a:buFont typeface="Arial"/>
              <a:buChar char="•"/>
            </a:pPr>
            <a:r>
              <a:rPr lang="en-US" sz="2400">
                <a:latin typeface="Arial"/>
                <a:ea typeface="+mn-lt"/>
                <a:cs typeface="+mn-lt"/>
              </a:rPr>
              <a:t>Describe Azure management and governance (30–35%)</a:t>
            </a:r>
            <a:endParaRPr lang="en-US" sz="2400">
              <a:latin typeface="Arial"/>
              <a:cs typeface="Arial"/>
            </a:endParaRPr>
          </a:p>
          <a:p>
            <a:pPr>
              <a:spcBef>
                <a:spcPts val="750"/>
              </a:spcBef>
              <a:buFont typeface="Arial"/>
              <a:buChar char="•"/>
            </a:pPr>
            <a:endParaRPr lang="en-US" sz="2400">
              <a:latin typeface="Arial"/>
              <a:cs typeface="Arial"/>
            </a:endParaRPr>
          </a:p>
          <a:p>
            <a:pPr marL="0" indent="0">
              <a:buNone/>
            </a:pPr>
            <a:endParaRPr lang="en-US">
              <a:latin typeface="Aptos" panose="02110004020202020204"/>
              <a:cs typeface="Arial"/>
            </a:endParaRPr>
          </a:p>
        </p:txBody>
      </p:sp>
      <p:pic>
        <p:nvPicPr>
          <p:cNvPr id="2050" name="Picture 2" descr="How do I get started with Microsoft Azure? – Cloud Build">
            <a:extLst>
              <a:ext uri="{FF2B5EF4-FFF2-40B4-BE49-F238E27FC236}">
                <a16:creationId xmlns:a16="http://schemas.microsoft.com/office/drawing/2014/main" id="{B3401339-8B56-E67E-A984-805287C488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1220" y="365125"/>
            <a:ext cx="4058937" cy="2503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02301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86CFAD-03D0-4D0A-559E-852C3FE78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A02B3-DC1C-F427-9AAE-95672F46B5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5553" y="228600"/>
            <a:ext cx="9144000" cy="1316580"/>
          </a:xfrm>
        </p:spPr>
        <p:txBody>
          <a:bodyPr>
            <a:normAutofit/>
          </a:bodyPr>
          <a:lstStyle/>
          <a:p>
            <a:r>
              <a:rPr lang="en-US" sz="4400">
                <a:solidFill>
                  <a:srgbClr val="484137"/>
                </a:solidFill>
                <a:latin typeface="ADLaM Display"/>
                <a:ea typeface="ADLaM Display"/>
                <a:cs typeface="ADLaM Display"/>
              </a:rPr>
              <a:t>How to study for Microsoft Azure Certifications</a:t>
            </a:r>
            <a:endParaRPr lang="en-US" sz="4400"/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519FF295-FA97-3E5D-B2CF-6F6842602C3B}"/>
              </a:ext>
            </a:extLst>
          </p:cNvPr>
          <p:cNvSpPr txBox="1">
            <a:spLocks/>
          </p:cNvSpPr>
          <p:nvPr/>
        </p:nvSpPr>
        <p:spPr>
          <a:xfrm>
            <a:off x="679753" y="1732022"/>
            <a:ext cx="10515600" cy="16377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err="1">
                <a:solidFill>
                  <a:srgbClr val="484137"/>
                </a:solidFill>
                <a:latin typeface="Aptos" panose="02110004020202020204"/>
              </a:rPr>
              <a:t>Youtube</a:t>
            </a:r>
            <a:r>
              <a:rPr lang="en-US">
                <a:solidFill>
                  <a:srgbClr val="484137"/>
                </a:solidFill>
                <a:latin typeface="Aptos" panose="02110004020202020204"/>
              </a:rPr>
              <a:t> videos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484137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Microsoft learn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err="1">
                <a:solidFill>
                  <a:srgbClr val="484137"/>
                </a:solidFill>
                <a:latin typeface="Aptos" panose="02110004020202020204"/>
              </a:rPr>
              <a:t>Chatgpt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84137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10418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270FC-0843-092B-A0FD-8FDE0A94D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15625" cy="1335088"/>
          </a:xfrm>
        </p:spPr>
        <p:txBody>
          <a:bodyPr/>
          <a:lstStyle/>
          <a:p>
            <a:r>
              <a:rPr lang="en-US">
                <a:solidFill>
                  <a:srgbClr val="484137"/>
                </a:solidFill>
                <a:latin typeface="ADLaM Display"/>
                <a:ea typeface="ADLaM Display"/>
                <a:cs typeface="ADLaM Display"/>
              </a:rPr>
              <a:t>Other Azure Exams</a:t>
            </a:r>
          </a:p>
        </p:txBody>
      </p:sp>
      <p:pic>
        <p:nvPicPr>
          <p:cNvPr id="7" name="Content Placeholder 6" descr="The Top Azure Certifications You Need to Have in 2023">
            <a:extLst>
              <a:ext uri="{FF2B5EF4-FFF2-40B4-BE49-F238E27FC236}">
                <a16:creationId xmlns:a16="http://schemas.microsoft.com/office/drawing/2014/main" id="{E6C4599B-23C3-CD67-CB4F-AFE2B5041F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5463" y="1825625"/>
            <a:ext cx="9721074" cy="4351338"/>
          </a:xfrm>
        </p:spPr>
      </p:pic>
    </p:spTree>
    <p:extLst>
      <p:ext uri="{BB962C8B-B14F-4D97-AF65-F5344CB8AC3E}">
        <p14:creationId xmlns:p14="http://schemas.microsoft.com/office/powerpoint/2010/main" val="32027445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5" name="Rectangle 4104">
            <a:extLst>
              <a:ext uri="{FF2B5EF4-FFF2-40B4-BE49-F238E27FC236}">
                <a16:creationId xmlns:a16="http://schemas.microsoft.com/office/drawing/2014/main" id="{5EF17487-C386-4F99-B5EB-4FD3DF423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7" name="Freeform: Shape 4106">
            <a:extLst>
              <a:ext uri="{FF2B5EF4-FFF2-40B4-BE49-F238E27FC236}">
                <a16:creationId xmlns:a16="http://schemas.microsoft.com/office/drawing/2014/main" id="{A0DE92DF-4769-4DE9-93FD-EE312718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C0E05E-60DB-2F80-5DE9-FA4A46B39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824" y="643467"/>
            <a:ext cx="4772975" cy="1800526"/>
          </a:xfrm>
        </p:spPr>
        <p:txBody>
          <a:bodyPr>
            <a:normAutofit/>
          </a:bodyPr>
          <a:lstStyle/>
          <a:p>
            <a:r>
              <a:rPr lang="en-US"/>
              <a:t>Coding language Certifications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8C37D-EE62-3666-7E37-3C903517D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6824" y="2623381"/>
            <a:ext cx="4772974" cy="3553581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sz="2000"/>
              <a:t>Not worth getting</a:t>
            </a:r>
          </a:p>
          <a:p>
            <a:pPr>
              <a:buFontTx/>
              <a:buChar char="-"/>
            </a:pPr>
            <a:r>
              <a:rPr lang="en-US" sz="2000"/>
              <a:t>Better to just focus on projects </a:t>
            </a:r>
          </a:p>
          <a:p>
            <a:pPr>
              <a:buFontTx/>
              <a:buChar char="-"/>
            </a:pPr>
            <a:r>
              <a:rPr lang="en-US" sz="2000"/>
              <a:t>Recruiters don’t really care about it</a:t>
            </a:r>
          </a:p>
        </p:txBody>
      </p:sp>
      <p:pic>
        <p:nvPicPr>
          <p:cNvPr id="4098" name="Picture 2" descr="PCEP – Certified Entry-Level Python ...">
            <a:extLst>
              <a:ext uri="{FF2B5EF4-FFF2-40B4-BE49-F238E27FC236}">
                <a16:creationId xmlns:a16="http://schemas.microsoft.com/office/drawing/2014/main" id="{F6EE0E5D-A84B-8A70-EFF1-50B663428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51869" y="643468"/>
            <a:ext cx="2545005" cy="2545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IT Specialist - Java - Credly">
            <a:extLst>
              <a:ext uri="{FF2B5EF4-FFF2-40B4-BE49-F238E27FC236}">
                <a16:creationId xmlns:a16="http://schemas.microsoft.com/office/drawing/2014/main" id="{130D5E86-193D-6F81-7D1C-9AB230D88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31617" y="3657600"/>
            <a:ext cx="2585510" cy="2585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54375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3DA78F-2CE6-A502-0C09-BB74EE8DD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FD868-7F19-7E6A-77B8-7D54C8E040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5553" y="228600"/>
            <a:ext cx="9144000" cy="1316580"/>
          </a:xfrm>
        </p:spPr>
        <p:txBody>
          <a:bodyPr>
            <a:normAutofit/>
          </a:bodyPr>
          <a:lstStyle/>
          <a:p>
            <a:r>
              <a:rPr lang="en-US" sz="4400">
                <a:solidFill>
                  <a:srgbClr val="484137"/>
                </a:solidFill>
                <a:latin typeface="ADLaM Display"/>
                <a:ea typeface="ADLaM Display"/>
                <a:cs typeface="ADLaM Display"/>
              </a:rPr>
              <a:t>Conclusion</a:t>
            </a:r>
            <a:endParaRPr lang="en-US" sz="4400"/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5F8029DB-0EC7-BFBF-09B6-77235EA2D270}"/>
              </a:ext>
            </a:extLst>
          </p:cNvPr>
          <p:cNvSpPr txBox="1">
            <a:spLocks/>
          </p:cNvSpPr>
          <p:nvPr/>
        </p:nvSpPr>
        <p:spPr>
          <a:xfrm>
            <a:off x="967619" y="1732022"/>
            <a:ext cx="4180114" cy="27485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>
                <a:solidFill>
                  <a:srgbClr val="484137"/>
                </a:solidFill>
                <a:latin typeface="Aptos" panose="02110004020202020204"/>
              </a:rPr>
              <a:t>Study Materials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srgbClr val="484137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Chatgpt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84137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solidFill>
                  <a:srgbClr val="484137"/>
                </a:solidFill>
                <a:latin typeface="Aptos" panose="02110004020202020204"/>
              </a:rPr>
              <a:t>Practice exams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srgbClr val="484137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Youtube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84137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solidFill>
                  <a:srgbClr val="484137"/>
                </a:solidFill>
                <a:latin typeface="Aptos" panose="02110004020202020204"/>
              </a:rPr>
              <a:t>Professor </a:t>
            </a:r>
            <a:r>
              <a:rPr lang="en-US" err="1">
                <a:solidFill>
                  <a:srgbClr val="484137"/>
                </a:solidFill>
                <a:latin typeface="Aptos" panose="02110004020202020204"/>
              </a:rPr>
              <a:t>messer</a:t>
            </a:r>
            <a:endParaRPr lang="en-US">
              <a:solidFill>
                <a:srgbClr val="484137"/>
              </a:solidFill>
              <a:latin typeface="Aptos" panose="02110004020202020204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srgbClr val="484137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Udem</a:t>
            </a:r>
            <a:r>
              <a:rPr lang="en-US">
                <a:solidFill>
                  <a:srgbClr val="484137"/>
                </a:solidFill>
                <a:latin typeface="Aptos" panose="02110004020202020204"/>
              </a:rPr>
              <a:t>y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484137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Vendor learning programs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D107B8-DEC0-2BB2-0E34-EC3DD0C55B5A}"/>
              </a:ext>
            </a:extLst>
          </p:cNvPr>
          <p:cNvSpPr txBox="1">
            <a:spLocks/>
          </p:cNvSpPr>
          <p:nvPr/>
        </p:nvSpPr>
        <p:spPr>
          <a:xfrm>
            <a:off x="6096000" y="1732022"/>
            <a:ext cx="6381447" cy="23319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200" err="1">
                <a:solidFill>
                  <a:srgbClr val="484137"/>
                </a:solidFill>
                <a:latin typeface="Aptos" panose="02110004020202020204"/>
              </a:rPr>
              <a:t>Comptia</a:t>
            </a:r>
            <a:r>
              <a:rPr lang="en-US" sz="2200">
                <a:solidFill>
                  <a:srgbClr val="484137"/>
                </a:solidFill>
                <a:latin typeface="Aptos" panose="02110004020202020204"/>
              </a:rPr>
              <a:t> Certifications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200">
                <a:solidFill>
                  <a:srgbClr val="484137"/>
                </a:solidFill>
                <a:latin typeface="Aptos" panose="02110004020202020204"/>
              </a:rPr>
              <a:t>Most widely recognized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srgbClr val="484137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200">
                <a:solidFill>
                  <a:srgbClr val="484137"/>
                </a:solidFill>
                <a:latin typeface="Aptos" panose="02110004020202020204"/>
              </a:rPr>
              <a:t>Most </a:t>
            </a:r>
            <a:r>
              <a:rPr lang="en-US" sz="2200" err="1">
                <a:solidFill>
                  <a:srgbClr val="484137"/>
                </a:solidFill>
                <a:latin typeface="Aptos" panose="02110004020202020204"/>
              </a:rPr>
              <a:t>seeked</a:t>
            </a:r>
            <a:r>
              <a:rPr lang="en-US" sz="2200">
                <a:solidFill>
                  <a:srgbClr val="484137"/>
                </a:solidFill>
                <a:latin typeface="Aptos" panose="02110004020202020204"/>
              </a:rPr>
              <a:t> by jobs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200">
                <a:solidFill>
                  <a:srgbClr val="484137"/>
                </a:solidFill>
                <a:latin typeface="Aptos" panose="02110004020202020204"/>
              </a:rPr>
              <a:t>A+, Net+, Sec+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srgbClr val="484137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200">
                <a:solidFill>
                  <a:srgbClr val="484137"/>
                </a:solidFill>
                <a:latin typeface="Aptos" panose="02110004020202020204"/>
              </a:rPr>
              <a:t>Recommended to skip A+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EC392F99-CCEB-D64A-96E0-7C6252B96958}"/>
              </a:ext>
            </a:extLst>
          </p:cNvPr>
          <p:cNvSpPr txBox="1">
            <a:spLocks/>
          </p:cNvSpPr>
          <p:nvPr/>
        </p:nvSpPr>
        <p:spPr>
          <a:xfrm>
            <a:off x="1213152" y="4559889"/>
            <a:ext cx="9861248" cy="2748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>
                <a:solidFill>
                  <a:srgbClr val="484137"/>
                </a:solidFill>
                <a:latin typeface="Aptos" panose="02110004020202020204"/>
              </a:rPr>
              <a:t>Cloud Computing Certifications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84137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solidFill>
                  <a:srgbClr val="484137"/>
                </a:solidFill>
                <a:latin typeface="Aptos" panose="02110004020202020204"/>
              </a:rPr>
              <a:t>Practice exams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484137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Vendor learning programs</a:t>
            </a:r>
          </a:p>
        </p:txBody>
      </p:sp>
    </p:spTree>
    <p:extLst>
      <p:ext uri="{BB962C8B-B14F-4D97-AF65-F5344CB8AC3E}">
        <p14:creationId xmlns:p14="http://schemas.microsoft.com/office/powerpoint/2010/main" val="21843602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D4D87-9B19-3804-27E2-E0E5EAAC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484137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Follow Us </a:t>
            </a:r>
          </a:p>
        </p:txBody>
      </p:sp>
      <p:pic>
        <p:nvPicPr>
          <p:cNvPr id="5" name="Content Placeholder 4" descr="A cartoon of a cat with a computer chip&#10;&#10;Description automatically generated">
            <a:extLst>
              <a:ext uri="{FF2B5EF4-FFF2-40B4-BE49-F238E27FC236}">
                <a16:creationId xmlns:a16="http://schemas.microsoft.com/office/drawing/2014/main" id="{A782521A-4FAC-B8C9-2C4F-AEFA7E328F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83" b="89987" l="7218" r="96653">
                        <a14:foregroundMark x1="10251" y1="79324" x2="10565" y2="70611"/>
                        <a14:foregroundMark x1="7322" y1="68270" x2="7845" y2="71131"/>
                        <a14:foregroundMark x1="20607" y1="89337" x2="20397" y2="88036"/>
                        <a14:foregroundMark x1="23431" y1="89597" x2="35042" y2="89987"/>
                        <a14:foregroundMark x1="91004" y1="49805" x2="96653" y2="40182"/>
                        <a14:foregroundMark x1="7322" y1="71131" x2="8368" y2="58648"/>
                        <a14:backgroundMark x1="9310" y1="52926" x2="4393" y2="602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2497" y="365125"/>
            <a:ext cx="1647904" cy="1325563"/>
          </a:xfr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1933657-C027-654D-F1FA-C200D0EA0A63}"/>
              </a:ext>
            </a:extLst>
          </p:cNvPr>
          <p:cNvSpPr txBox="1"/>
          <p:nvPr/>
        </p:nvSpPr>
        <p:spPr>
          <a:xfrm>
            <a:off x="5583767" y="1500151"/>
            <a:ext cx="235964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84137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Discord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484137"/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84137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LinkedIn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484137"/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84137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Instagram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484137"/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84137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Bulls Connect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484137"/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84137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GitHub</a:t>
            </a:r>
          </a:p>
        </p:txBody>
      </p:sp>
      <p:pic>
        <p:nvPicPr>
          <p:cNvPr id="9" name="Picture 8" descr="A qr code with a star in the middle&#10;&#10;Description automatically generated">
            <a:extLst>
              <a:ext uri="{FF2B5EF4-FFF2-40B4-BE49-F238E27FC236}">
                <a16:creationId xmlns:a16="http://schemas.microsoft.com/office/drawing/2014/main" id="{E51B0D0D-9F84-D362-2D7F-018373AAAA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00150"/>
            <a:ext cx="4375974" cy="4375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1126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C6CE51-78CF-D5F4-6C9E-A588DF0FF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oster for a conference&#10;&#10;AI-generated content may be incorrect.">
            <a:extLst>
              <a:ext uri="{FF2B5EF4-FFF2-40B4-BE49-F238E27FC236}">
                <a16:creationId xmlns:a16="http://schemas.microsoft.com/office/drawing/2014/main" id="{ABE13D89-968C-6EE3-655F-889830E612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9349" y="1816099"/>
            <a:ext cx="4813301" cy="4813301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4C67646-C773-FD4F-C731-E8CCD7140B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5553" y="228600"/>
            <a:ext cx="9144000" cy="1316580"/>
          </a:xfrm>
        </p:spPr>
        <p:txBody>
          <a:bodyPr>
            <a:normAutofit/>
          </a:bodyPr>
          <a:lstStyle/>
          <a:p>
            <a:r>
              <a:rPr lang="en-US" sz="4400">
                <a:solidFill>
                  <a:srgbClr val="484137"/>
                </a:solidFill>
                <a:latin typeface="ADLaM Display"/>
                <a:ea typeface="ADLaM Display"/>
                <a:cs typeface="ADLaM Display"/>
              </a:rPr>
              <a:t>COME TO OUR NEXT EVENT!</a:t>
            </a:r>
            <a:endParaRPr lang="en-US" sz="4400"/>
          </a:p>
        </p:txBody>
      </p:sp>
    </p:spTree>
    <p:extLst>
      <p:ext uri="{BB962C8B-B14F-4D97-AF65-F5344CB8AC3E}">
        <p14:creationId xmlns:p14="http://schemas.microsoft.com/office/powerpoint/2010/main" val="2016153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7e1117b-d274-4f05-b992-65babf461e86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F1B284AB545745A3949AEB1EDC3DF8" ma:contentTypeVersion="9" ma:contentTypeDescription="Create a new document." ma:contentTypeScope="" ma:versionID="25cae1ab010240a4bdd8f90cbeddcdff">
  <xsd:schema xmlns:xsd="http://www.w3.org/2001/XMLSchema" xmlns:xs="http://www.w3.org/2001/XMLSchema" xmlns:p="http://schemas.microsoft.com/office/2006/metadata/properties" xmlns:ns3="a7e1117b-d274-4f05-b992-65babf461e86" targetNamespace="http://schemas.microsoft.com/office/2006/metadata/properties" ma:root="true" ma:fieldsID="c49cb134d797c2ecddf058c396ebdf07" ns3:_="">
    <xsd:import namespace="a7e1117b-d274-4f05-b992-65babf461e8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e1117b-d274-4f05-b992-65babf461e8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57E1D5B-66C2-4452-91A2-54B7938536C6}">
  <ds:schemaRefs>
    <ds:schemaRef ds:uri="http://schemas.microsoft.com/office/2006/metadata/properties"/>
    <ds:schemaRef ds:uri="a7e1117b-d274-4f05-b992-65babf461e86"/>
    <ds:schemaRef ds:uri="http://purl.org/dc/dcmitype/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C7ABB6F6-7FD0-45F5-B11C-8E36B22DE39C}">
  <ds:schemaRefs>
    <ds:schemaRef ds:uri="a7e1117b-d274-4f05-b992-65babf461e8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83CB701-1EDF-476F-BD13-1CA73DEAD80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741bf7de-e2e5-46df-8d67-82607df9deaa}" enabled="0" method="" siteId="{741bf7de-e2e5-46df-8d67-82607df9dea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734</Words>
  <Application>Microsoft Office PowerPoint</Application>
  <PresentationFormat>Widescreen</PresentationFormat>
  <Paragraphs>146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ADLaM Display</vt:lpstr>
      <vt:lpstr>Aptos</vt:lpstr>
      <vt:lpstr>Aptos Display</vt:lpstr>
      <vt:lpstr>Arial</vt:lpstr>
      <vt:lpstr>Courier New</vt:lpstr>
      <vt:lpstr>Office Theme</vt:lpstr>
      <vt:lpstr>1_Office Theme</vt:lpstr>
      <vt:lpstr>Student Branch Chapter  @ USF</vt:lpstr>
      <vt:lpstr>Check in!  Support us  </vt:lpstr>
      <vt:lpstr>Follow Us </vt:lpstr>
      <vt:lpstr>About me :</vt:lpstr>
      <vt:lpstr>What we are covering today</vt:lpstr>
      <vt:lpstr>What are certifications</vt:lpstr>
      <vt:lpstr>You can land pretty much any job In a computer related field WITH CERTIFICATIONS</vt:lpstr>
      <vt:lpstr>CompTIA Certifications</vt:lpstr>
      <vt:lpstr>CompTIA A+</vt:lpstr>
      <vt:lpstr>Network+</vt:lpstr>
      <vt:lpstr>Security+</vt:lpstr>
      <vt:lpstr>How to study for CompTIA Certifications</vt:lpstr>
      <vt:lpstr>PowerPoint Presentation</vt:lpstr>
      <vt:lpstr>Cloud Computing Certifications</vt:lpstr>
      <vt:lpstr>Why should you get AWS Certifications?</vt:lpstr>
      <vt:lpstr>AWS Cloud Practitioner Exam</vt:lpstr>
      <vt:lpstr>How to study for AWS Certifications</vt:lpstr>
      <vt:lpstr>Other AWS Exams</vt:lpstr>
      <vt:lpstr>Why should you get Microsoft Azure Certifications?</vt:lpstr>
      <vt:lpstr>Microsoft Certified: Azure Fundamentals (AZ-900)</vt:lpstr>
      <vt:lpstr>How to study for Microsoft Azure Certifications</vt:lpstr>
      <vt:lpstr>Other Azure Exams</vt:lpstr>
      <vt:lpstr>Coding language Certifications</vt:lpstr>
      <vt:lpstr>Conclusion</vt:lpstr>
      <vt:lpstr>Follow Us </vt:lpstr>
      <vt:lpstr>COME TO OUR NEXT EVENT!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Pulgar</dc:creator>
  <cp:lastModifiedBy>Sebastian Pulgar</cp:lastModifiedBy>
  <cp:revision>2</cp:revision>
  <dcterms:created xsi:type="dcterms:W3CDTF">2025-11-12T01:34:07Z</dcterms:created>
  <dcterms:modified xsi:type="dcterms:W3CDTF">2025-11-16T17:49:25Z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0x01010015F1B284AB545745A3949AEB1EDC3DF8</vt:lpwstr>
  </property>
</Properties>
</file>